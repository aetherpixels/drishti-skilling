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9144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SUBMISSION — PRELIMINARY ROUND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0" y="411480"/>
            <a:ext cx="2953512" cy="685800"/>
          </a:xfrm>
          <a:prstGeom prst="roundRect">
            <a:avLst>
              <a:gd name="adj" fmla="val 13333"/>
            </a:avLst>
          </a:prstGeom>
          <a:solidFill>
            <a:srgbClr val="0A254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41148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SMART EDUCATION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CATEGORY: SOFTWARE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7132320" cy="5029200"/>
          </a:xfrm>
          <a:prstGeom prst="roundRect">
            <a:avLst>
              <a:gd name="adj" fmla="val 2182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08760"/>
            <a:ext cx="65836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
</a:t>
            </a:r>
            <a:pPr indent="0" marL="0">
              <a:buNone/>
            </a:pPr>
            <a:r>
              <a:rPr lang="en-US" sz="16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26245
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
</a:t>
            </a:r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Real-Time Monitoring of Training Centres for Attendance and Infrastructure Compliance
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/ DEPARTMENT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Skill Development and Entrepreneurship (MSDE)
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 ALIGNMENT &amp; APPLICABILITY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Pradhan Mantri Kaushal Vikas Yojana (PMKVY 4.0)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Deen Dayal Upadhyaya Grameen Kaushalya Yojana (DDU-GKY)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Industrial Training Institutes (ITIs) &amp; Craftsmen Training Scheme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Personal Data Protection (DPDP) Act 2023 Compliant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09560" y="1325880"/>
            <a:ext cx="3730752" cy="50292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508760"/>
            <a:ext cx="336499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
</a:t>
            </a:r>
            <a:pPr algn="ctr" indent="0" marL="0">
              <a:buNone/>
            </a:pPr>
            <a:r>
              <a:rPr lang="en-US" sz="2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Drishti-Skilling
</a:t>
            </a:r>
            <a:pPr algn="ctr"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Edge-First AI Compliance &amp; Video Analytics Platform
</a:t>
            </a:r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────────────────────────────
</a:t>
            </a:r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
</a:t>
            </a:r>
            <a:pPr algn="ctr" indent="0" marL="0">
              <a:buNone/>
            </a:pPr>
            <a:r>
              <a:rPr lang="en-US" sz="20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HackSolvers
</a:t>
            </a:r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
</a:t>
            </a:r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Team ID]
</a:t>
            </a:r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 PILLARS
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Edge Face Blurring (DPDP Act 2023)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99% Bandwidth Reduction (&lt;5 KB JSON)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Real-Time SIP Timetable Cross-Check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Automated Sanctioned Asset Verification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Real-Time Monitoring of Training Centres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Zero Leakage. 100% Verified Skilling &amp; Infrastructure.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961120" y="292608"/>
            <a:ext cx="2679192" cy="530352"/>
          </a:xfrm>
          <a:prstGeom prst="roundRect">
            <a:avLst>
              <a:gd name="adj" fmla="val 13793"/>
            </a:avLst>
          </a:prstGeom>
          <a:solidFill>
            <a:srgbClr val="0A254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0" y="292608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2026 | PS #26245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3886200" cy="3931920"/>
          </a:xfrm>
          <a:prstGeom prst="roundRect">
            <a:avLst>
              <a:gd name="adj" fmla="val 18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1430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Drishti-Skilling Closes the Gap: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463040"/>
            <a:ext cx="1600200" cy="621792"/>
          </a:xfrm>
          <a:prstGeom prst="rect">
            <a:avLst/>
          </a:prstGeom>
          <a:solidFill>
            <a:srgbClr val="FEE2E2"/>
          </a:solidFill>
          <a:ln w="762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9961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trainees &amp; inflated physical attendance registers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2304288" y="160020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23744" y="1463040"/>
            <a:ext cx="1783080" cy="621792"/>
          </a:xfrm>
          <a:prstGeom prst="rect">
            <a:avLst/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499616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Edge-AI aggregate head-counting continuously validates actual physical presence.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685800" y="2130552"/>
            <a:ext cx="1600200" cy="621792"/>
          </a:xfrm>
          <a:prstGeom prst="rect">
            <a:avLst/>
          </a:prstGeom>
          <a:solidFill>
            <a:srgbClr val="FEE2E2"/>
          </a:solidFill>
          <a:ln w="762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1671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Machinery rented for audit day &amp; removed afterwards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2304288" y="226771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23744" y="2130552"/>
            <a:ext cx="1783080" cy="621792"/>
          </a:xfrm>
          <a:prstGeom prst="rect">
            <a:avLst/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2167128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AI tracks presence, spatial zoning &amp; operability of sanctioned equipment.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685800" y="2798064"/>
            <a:ext cx="1600200" cy="621792"/>
          </a:xfrm>
          <a:prstGeom prst="rect">
            <a:avLst/>
          </a:prstGeom>
          <a:solidFill>
            <a:srgbClr val="FEE2E2"/>
          </a:solidFill>
          <a:ln w="762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8346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video streaming impossible on rural 2G/3G links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2304288" y="2935224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23744" y="2798064"/>
            <a:ext cx="1783080" cy="621792"/>
          </a:xfrm>
          <a:prstGeom prst="rect">
            <a:avLst/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78608" y="283464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 pushes 2-5 KB JSON telemetry; 99% bandwidth reduction.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685800" y="3465576"/>
            <a:ext cx="1600200" cy="621792"/>
          </a:xfrm>
          <a:prstGeom prst="rect">
            <a:avLst/>
          </a:prstGeom>
          <a:solidFill>
            <a:srgbClr val="FEE2E2"/>
          </a:solidFill>
          <a:ln w="7620">
            <a:solidFill>
              <a:srgbClr val="FCA5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5021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 recognition breaches trainee privacy laws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2304288" y="3602736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23744" y="3465576"/>
            <a:ext cx="1783080" cy="621792"/>
          </a:xfrm>
          <a:prstGeom prst="rect">
            <a:avLst/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78608" y="3502152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facial storage; real-time edge face-blurring complies with DPDP Act 2023.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85800" y="4133088"/>
            <a:ext cx="1600200" cy="621792"/>
          </a:xfrm>
          <a:prstGeom prst="rect">
            <a:avLst/>
          </a:prstGeom>
          <a:solidFill>
            <a:srgbClr val="FEE2E2"/>
          </a:solidFill>
          <a:ln w="7620">
            <a:solidFill>
              <a:srgbClr val="FCA5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16966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Auditors visit once in months; cannot catch daily gaps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2304288" y="42702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23744" y="4133088"/>
            <a:ext cx="1783080" cy="621792"/>
          </a:xfrm>
          <a:prstGeom prst="rect">
            <a:avLst/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78608" y="4169664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discrepancy triage auto-flags anomalous centres for surprise audits.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572000" y="1051560"/>
            <a:ext cx="3337560" cy="39319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7780">
            <a:solidFill>
              <a:srgbClr val="0066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1430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Edge-to-Cloud Intelligent Workflow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1481328"/>
            <a:ext cx="256032" cy="25603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8" name="Text 36"/>
          <p:cNvSpPr/>
          <p:nvPr/>
        </p:nvSpPr>
        <p:spPr>
          <a:xfrm>
            <a:off x="470916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144475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CCTV Stream (RTSP/USB)
</a:t>
            </a:r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720p/1080p camera in labs/classrooms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2011680"/>
            <a:ext cx="256032" cy="25603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0" y="197510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Face Blurring Filter
</a:t>
            </a:r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OpenCV/MediaPipe de-identification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09160" y="2542032"/>
            <a:ext cx="256032" cy="25603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44" name="Text 42"/>
          <p:cNvSpPr/>
          <p:nvPr/>
        </p:nvSpPr>
        <p:spPr>
          <a:xfrm>
            <a:off x="4709160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29200" y="250545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Head &amp; Asset AI
</a:t>
            </a:r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students &amp; maps sanctioned machinery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09160" y="3072384"/>
            <a:ext cx="256032" cy="25603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47" name="Text 45"/>
          <p:cNvSpPr/>
          <p:nvPr/>
        </p:nvSpPr>
        <p:spPr>
          <a:xfrm>
            <a:off x="4709160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29200" y="30358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Smoothing (&lt;5 KB)
</a:t>
            </a:r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 moving average sent via MQTT/HTTPS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09160" y="3602736"/>
            <a:ext cx="256032" cy="25603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50" name="Text 48"/>
          <p:cNvSpPr/>
          <p:nvPr/>
        </p:nvSpPr>
        <p:spPr>
          <a:xfrm>
            <a:off x="4709160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29200" y="3566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Timetable Reconciliation
</a:t>
            </a:r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Cross-checks with SIP portal batch schedule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09160" y="4133088"/>
            <a:ext cx="256032" cy="25603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53" name="Text 51"/>
          <p:cNvSpPr/>
          <p:nvPr/>
        </p:nvSpPr>
        <p:spPr>
          <a:xfrm>
            <a:off x="470916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29200" y="409651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Discrepancy Alerts
</a:t>
            </a:r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mismatches &amp; saves blurred evidence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046720" y="1051560"/>
            <a:ext cx="3593592" cy="1691640"/>
          </a:xfrm>
          <a:prstGeom prst="roundRect">
            <a:avLst>
              <a:gd name="adj" fmla="val 4324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83880" y="1143000"/>
            <a:ext cx="3319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Discrepancy Escalation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183880" y="1417320"/>
            <a:ext cx="3319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Level 1 (Amber Alert): </a:t>
            </a:r>
            <a:pPr indent="0" marL="0"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variance 15-30% sustained for 30 mins -&gt; Auto-query sent to Centre Admin.
</a:t>
            </a:r>
            <a:pPr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Level 2 (Red Flag): </a:t>
            </a:r>
            <a:pPr indent="0" marL="0"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&gt;40% attendance deficit or missing critical machinery -&gt; Stipend withheld &amp; flying squad notified.
</a:t>
            </a:r>
            <a:pPr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Evidence Vault: </a:t>
            </a:r>
            <a:pPr indent="0" marL="0"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cryptographically signed, blurred snapshot proofs for objective dispute redressal.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8046720" y="2852928"/>
            <a:ext cx="3593592" cy="213055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83880" y="2944368"/>
            <a:ext cx="3319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Core Inspection Categories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8183880" y="3200400"/>
            <a:ext cx="33192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Classroom Attendance Compliance:
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aggregate head count, seat occupancy rate, and instructor physical presence vs batch roster.
</a:t>
            </a:r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Workshop &amp; Lab Infrastructure:
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verification of trade equipment (welding kits, sewing machines, lathe tools, computer terminals).
</a:t>
            </a:r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Mandatory Safety &amp; Facility Norms:
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of fire extinguishers, clear emergency exits, and minimum required classroom illumination.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48640" y="5120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8368" y="5212080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Edge-AI Vision Engine
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YOLOv8-Nano runs locally on sub-₹8k mini-PCs without cloud GPUs or recurring cloud AI costs.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346704" y="5120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56432" y="5212080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Low-Bandwidth Telemetry
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Pushes 2-5 KB JSON metrics every 5 mins; fully operational over rural 2G/3G connections.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44768" y="5120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54496" y="5212080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 2023 Privacy Compliant
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Irreversible edge face blurring ensures zero individual biometric collection or facial tracking.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942832" y="5120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052560" y="5212080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Reconciliation
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integration with MSDE Skill India Portal timetables flags ghost batches instantly.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Edge-Native, Privacy-Preserving &amp; Scalable Video Analytics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961120" y="292608"/>
            <a:ext cx="2679192" cy="530352"/>
          </a:xfrm>
          <a:prstGeom prst="roundRect">
            <a:avLst>
              <a:gd name="adj" fmla="val 13793"/>
            </a:avLst>
          </a:prstGeom>
          <a:solidFill>
            <a:srgbClr val="0A254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0" y="292608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ARCHITECTURE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7780">
            <a:solidFill>
              <a:srgbClr val="006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2651760" cy="32004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ZONE 1: SENSING &amp; INGESTION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1444752"/>
            <a:ext cx="24323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Existing CCTV / IP Cameras (RTSP/USB)
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Snapshot Grabber (Every 5 mins)
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Camera Tamper &amp; Blur Detection
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CLAHE Lighting &amp; Contrast Normalizer
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3346704" y="105156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778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46704" y="1051560"/>
            <a:ext cx="26517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346704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ZONE 2: EDGE INTELLIGENCE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56432" y="1444752"/>
            <a:ext cx="24323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Face Blurring (OpenCV)
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YOLOv8-Nano Head/Person Counter
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Sanctioned Asset Spatial ROI Detector
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ByteTrack Temporal Averaging (5-15m)
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6144768" y="105156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4768" y="1051560"/>
            <a:ext cx="265176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144768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ZONE 3: CLOUD &amp; INTEGRATION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54496" y="1444752"/>
            <a:ext cx="24323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FastAPI Gateway &amp; MQTT Broker
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MSDE Skill Portal (SIP) Sync
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Lightweight Telemetry Ingest (&lt;5 KB)
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72-Hour Offline Edge Buffer Sync
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8942832" y="105156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7780">
            <a:solidFill>
              <a:srgbClr val="F582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42832" y="1051560"/>
            <a:ext cx="2651760" cy="32004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2" name="Text 20"/>
          <p:cNvSpPr/>
          <p:nvPr/>
        </p:nvSpPr>
        <p:spPr>
          <a:xfrm>
            <a:off x="8942832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ZONE 4: MONITORING &amp; AUDIT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052560" y="1444752"/>
            <a:ext cx="24323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Reconciliation: |Claimed - Real|
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Centre Compliance Index (0-100)
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Discrepancy Triage &amp; Evidence Vault
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Auto-Notice &amp; Subsidy Hold Engine
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548640" y="321868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(End-to-End Pipeline Workflow):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493008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5240">
            <a:solidFill>
              <a:srgbClr val="0066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493008"/>
            <a:ext cx="1920240" cy="2286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4930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1. SENSING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94360" y="37673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CCTV Feeds
</a:t>
            </a:r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RTSP 720p/1080p classroom &amp; lab cams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468880" y="38221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16352" y="3493008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5240">
            <a:solidFill>
              <a:srgbClr val="0066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16352" y="3493008"/>
            <a:ext cx="1920240" cy="2286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2" name="Text 30"/>
          <p:cNvSpPr/>
          <p:nvPr/>
        </p:nvSpPr>
        <p:spPr>
          <a:xfrm>
            <a:off x="2816352" y="34930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2. EDGE AI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862072" y="37673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Gateway
</a:t>
            </a:r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Face-blur + YOLOv8 head &amp; asset AI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36592" y="38221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84064" y="3493008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5240">
            <a:solidFill>
              <a:srgbClr val="0066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84064" y="3493008"/>
            <a:ext cx="1920240" cy="2286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7" name="Text 35"/>
          <p:cNvSpPr/>
          <p:nvPr/>
        </p:nvSpPr>
        <p:spPr>
          <a:xfrm>
            <a:off x="5084064" y="34930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3. TRANSPORT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129784" y="37673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/ HTTPS
</a:t>
            </a:r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2-5 KB JSON telemetry sync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04304" y="38221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51776" y="3493008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5240">
            <a:solidFill>
              <a:srgbClr val="0066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51776" y="3493008"/>
            <a:ext cx="1920240" cy="2286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2" name="Text 40"/>
          <p:cNvSpPr/>
          <p:nvPr/>
        </p:nvSpPr>
        <p:spPr>
          <a:xfrm>
            <a:off x="7351776" y="34930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4. CLOUD ENGINE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397496" y="37673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
</a:t>
            </a:r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Cross-checks with MSDE SIP timetable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272016" y="38221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619488" y="3493008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5240">
            <a:solidFill>
              <a:srgbClr val="0066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19488" y="3493008"/>
            <a:ext cx="1920240" cy="2286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7" name="Text 45"/>
          <p:cNvSpPr/>
          <p:nvPr/>
        </p:nvSpPr>
        <p:spPr>
          <a:xfrm>
            <a:off x="9619488" y="34930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5. CONSUMPTION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9665208" y="37673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MSDE Dashboard
</a:t>
            </a:r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map, alerts &amp; evidence vault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48640" y="4709160"/>
            <a:ext cx="621792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5240">
            <a:solidFill>
              <a:srgbClr val="0A25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Implementation Choices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85800" y="5047488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Computer Vision: 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 / YOLOv11n (ONNX / TensorRT), ByteTrack, OpenCV
</a:t>
            </a:r>
            <a:pPr indent="0" marL="0">
              <a:buNone/>
            </a:pPr>
            <a:r>
              <a:rPr lang="en-US" sz="76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Edge Runtime: 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OpenVINO, Docker Container on Intel N100 / Raspberry Pi 5
</a:t>
            </a:r>
            <a:pPr indent="0" marL="0">
              <a:buNone/>
            </a:pPr>
            <a:r>
              <a:rPr lang="en-US" sz="76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 &amp; Ingest: 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MQTT Broker (EMQX), Celery Async Workers, WebSockets
</a:t>
            </a:r>
            <a:pPr indent="0" marL="0">
              <a:buNone/>
            </a:pPr>
            <a:r>
              <a:rPr lang="en-US" sz="76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 &amp; Store: 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TimescaleDB (Time-series), Redis Cache, MinIO
</a:t>
            </a:r>
            <a:pPr indent="0" marL="0">
              <a:buNone/>
            </a:pPr>
            <a:r>
              <a:rPr lang="en-US" sz="76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Dashboard: 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14, React, TailwindCSS, Leaflet GIS, Recharts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6949440" y="4709160"/>
            <a:ext cx="4690872" cy="1783080"/>
          </a:xfrm>
          <a:prstGeom prst="roundRect">
            <a:avLst>
              <a:gd name="adj" fmla="val 410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86600" y="4800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Technical Guarantees &amp; Links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086600" y="5047488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Privacy by Design: 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Irreversible edge face blur; no biometrics (DPDP 2023).
</a:t>
            </a:r>
            <a:pPr indent="0" marL="0">
              <a:buNone/>
            </a:pPr>
            <a:r>
              <a:rPr lang="en-US" sz="76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99.2% Bandwidth Saved: 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2 KB JSON metrics instead of video streaming.
</a:t>
            </a:r>
            <a:pPr indent="0" marL="0">
              <a:buNone/>
            </a:pPr>
            <a:r>
              <a:rPr lang="en-US" sz="76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72-Hr Offline Resilience: </a:t>
            </a:r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buffer auto-syncs when rural connectivity returns.
</a:t>
            </a:r>
            <a:pPr indent="0" marL="0">
              <a:buNone/>
            </a:pPr>
            <a:r>
              <a:rPr lang="en-US" sz="72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Demo MVP: https://drishti-skilling.vercel.app/
</a:t>
            </a:r>
            <a:pPr indent="0" marL="0">
              <a:buNone/>
            </a:pPr>
            <a:r>
              <a:rPr lang="en-US" sz="72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Architecture Repo: github.com/HackSolvers/Drishti-Skilling</a:t>
            </a:r>
            <a:endParaRPr lang="en-US" sz="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it be deployed across 15,000+ centres? Does it create long-term audit value?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961120" y="292608"/>
            <a:ext cx="2679192" cy="530352"/>
          </a:xfrm>
          <a:prstGeom prst="roundRect">
            <a:avLst>
              <a:gd name="adj" fmla="val 13793"/>
            </a:avLst>
          </a:prstGeom>
          <a:solidFill>
            <a:srgbClr val="0A254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0" y="292608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FEASIBILITY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7780">
            <a:solidFill>
              <a:srgbClr val="006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2651760" cy="29260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51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Technical Feasibility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Reuses existing RTSP IP cameras and DVRs; zero rewiring required.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Quantized INT8 YOLOv8 runs at 25+ FPS on ₹7,000 Mini-PCs.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Temporal rolling filter (5-15 min) eliminates transient false flags.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Working MVP: live face blur, head count, asset check &amp; cloud sync.
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3346704" y="105156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778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46704" y="1051560"/>
            <a:ext cx="265176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346704" y="1051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Financial Feasibility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38144" y="14173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Low CapEx: Single edge box (~₹6,500) covers 4-6 rooms per centre.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98% lower cloud OpEx: Metadata pushes cut server costs to &lt;₹80/mo.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Plugs multi-crore public leakages from ghost training batches.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Cuts manual physical audit travel costs by over 70%.
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144768" y="105156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4768" y="1051560"/>
            <a:ext cx="265176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144768" y="1051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Scalability Feasibility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36208" y="14173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Phased rollout: 50 Pilot ITIs -&gt; State Missions -&gt; 15,000+ centres.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Containerized Docker services deploy seamlessly via OTA patches.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Modular asset library extends easily to new trade sectors.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Web onboarding wizard enables easy 10-minute camera zone calibration.
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8942832" y="105156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7780">
            <a:solidFill>
              <a:srgbClr val="F582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42832" y="1051560"/>
            <a:ext cx="2651760" cy="29260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2" name="Text 20"/>
          <p:cNvSpPr/>
          <p:nvPr/>
        </p:nvSpPr>
        <p:spPr>
          <a:xfrm>
            <a:off x="8942832" y="1051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Social &amp; Regulatory Viability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34272" y="14173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Strictly aligned with Digital Personal Data Protection (DPDP) Act 2023.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Ensures rural underprivileged youth receive real practical training.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Protects compliant training partners with faster subsidy approvals.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Deters corrupt operators from misusing public skilling subsidies.
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48640" y="32186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Challenges, Risks and Overcoming Strategies: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520440"/>
            <a:ext cx="411480" cy="530352"/>
          </a:xfrm>
          <a:prstGeom prst="roundRect">
            <a:avLst>
              <a:gd name="adj" fmla="val 11111"/>
            </a:avLst>
          </a:prstGeom>
          <a:solidFill>
            <a:srgbClr val="0A254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52044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1560" y="3520440"/>
            <a:ext cx="4846320" cy="530352"/>
          </a:xfrm>
          <a:prstGeom prst="rect">
            <a:avLst/>
          </a:prstGeom>
          <a:solidFill>
            <a:srgbClr val="FEE2E2"/>
          </a:solidFill>
          <a:ln w="7620">
            <a:solidFill>
              <a:srgbClr val="FCA5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35570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Tampering / Obstruction: Centres block or tilt cameras to hide empty rooms.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5989320" y="3520440"/>
            <a:ext cx="5650992" cy="530352"/>
          </a:xfrm>
          <a:prstGeom prst="rect">
            <a:avLst/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3557016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Tamper Detection AI triggers immediate alert if feed goes black, static, or camera shifts &gt;10°.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48640" y="4105656"/>
            <a:ext cx="411480" cy="530352"/>
          </a:xfrm>
          <a:prstGeom prst="roundRect">
            <a:avLst>
              <a:gd name="adj" fmla="val 11111"/>
            </a:avLst>
          </a:prstGeom>
          <a:solidFill>
            <a:srgbClr val="0A2540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105656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51560" y="4105656"/>
            <a:ext cx="4846320" cy="530352"/>
          </a:xfrm>
          <a:prstGeom prst="rect">
            <a:avLst/>
          </a:prstGeom>
          <a:solidFill>
            <a:srgbClr val="FEE2E2"/>
          </a:solidFill>
          <a:ln w="7620">
            <a:solidFill>
              <a:srgbClr val="FCA5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43000" y="4142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Intermittent Rural Internet: Remote training centres face frequent broadband outages.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989320" y="4105656"/>
            <a:ext cx="5650992" cy="530352"/>
          </a:xfrm>
          <a:prstGeom prst="rect">
            <a:avLst/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4142232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Store-and-Forward buffers 72 hours of telemetry locally in SQLite and auto-syncs on reconnect.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548640" y="4690872"/>
            <a:ext cx="411480" cy="530352"/>
          </a:xfrm>
          <a:prstGeom prst="roundRect">
            <a:avLst>
              <a:gd name="adj" fmla="val 11111"/>
            </a:avLst>
          </a:prstGeom>
          <a:solidFill>
            <a:srgbClr val="0A2540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69087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51560" y="4690872"/>
            <a:ext cx="4846320" cy="530352"/>
          </a:xfrm>
          <a:prstGeom prst="rect">
            <a:avLst/>
          </a:prstGeom>
          <a:solidFill>
            <a:srgbClr val="FEE2E2"/>
          </a:solidFill>
          <a:ln w="7620">
            <a:solidFill>
              <a:srgbClr val="FCA5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47274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Lighting &amp; Lab Clutter: Sub-optimal classroom lighting causes false detection misses.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5989320" y="4690872"/>
            <a:ext cx="5650992" cy="530352"/>
          </a:xfrm>
          <a:prstGeom prst="rect">
            <a:avLst/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0" y="4727448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CLAHE contrast enhancement + multi-frame temporal voting ensures robust detection confidence.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548640" y="5276088"/>
            <a:ext cx="411480" cy="530352"/>
          </a:xfrm>
          <a:prstGeom prst="roundRect">
            <a:avLst>
              <a:gd name="adj" fmla="val 11111"/>
            </a:avLst>
          </a:prstGeom>
          <a:solidFill>
            <a:srgbClr val="0A2540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527608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51560" y="5276088"/>
            <a:ext cx="4846320" cy="530352"/>
          </a:xfrm>
          <a:prstGeom prst="rect">
            <a:avLst/>
          </a:prstGeom>
          <a:solidFill>
            <a:srgbClr val="FEE2E2"/>
          </a:solidFill>
          <a:ln w="7620">
            <a:solidFill>
              <a:srgbClr val="FCA5A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43000" y="53126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Accidental False Discrepancies: Temporary equipment movement unfairly penalizes centres.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5989320" y="5276088"/>
            <a:ext cx="5650992" cy="530352"/>
          </a:xfrm>
          <a:prstGeom prst="rect">
            <a:avLst/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0760" y="5312664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Multi-tier grace period (30-min sustained deficit) + automated centre query before any punitive action.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548640" y="5861304"/>
            <a:ext cx="411480" cy="530352"/>
          </a:xfrm>
          <a:prstGeom prst="roundRect">
            <a:avLst>
              <a:gd name="adj" fmla="val 11111"/>
            </a:avLst>
          </a:prstGeom>
          <a:solidFill>
            <a:srgbClr val="0A2540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586130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051560" y="5861304"/>
            <a:ext cx="4846320" cy="530352"/>
          </a:xfrm>
          <a:prstGeom prst="rect">
            <a:avLst/>
          </a:prstGeom>
          <a:solidFill>
            <a:srgbClr val="FEE2E2"/>
          </a:solidFill>
          <a:ln w="7620">
            <a:solidFill>
              <a:srgbClr val="FCA5A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43000" y="5897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Violation Concerns: Trainees worry about intrusive government surveillance.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5989320" y="5861304"/>
            <a:ext cx="5650992" cy="530352"/>
          </a:xfrm>
          <a:prstGeom prst="rect">
            <a:avLst/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80760" y="5897880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Hardcoded edge face-blurring; zero biometric data stored; fully compliant with DPDP Act 2023.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Governance from Delayed Paper Audits to Near Real-Time Integrity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961120" y="292608"/>
            <a:ext cx="2679192" cy="530352"/>
          </a:xfrm>
          <a:prstGeom prst="roundRect">
            <a:avLst>
              <a:gd name="adj" fmla="val 13793"/>
            </a:avLst>
          </a:prstGeom>
          <a:solidFill>
            <a:srgbClr val="0A254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0" y="292608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&amp; DASHBOARD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7780">
            <a:solidFill>
              <a:srgbClr val="006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2651760" cy="256032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51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Trainees &amp; Candidates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371600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Guaranteed physical trainer presence &amp; real classroom hours.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Hands-on access to functional, approved trade machinery.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employability through genuine, verifiable skill acquisition.
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3346704" y="105156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778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46704" y="1051560"/>
            <a:ext cx="265176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346704" y="1051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Training Partners (VTPs)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38144" y="1371600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compliance scoring eliminates inspection delays.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Accelerated milestone approvals and faster subsidy disbursement.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Ethical centres protected from corrupt undercutters.
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788920"/>
            <a:ext cx="265176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88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Monitoring Units &amp; Auditors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080" y="3108960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80% reduction in manual routine inspection overhead.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Risk-ranked dashboard directs flying squads to true hotspots.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Tamper-proof evidence snapshots eliminate dispute claims.
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3346704" y="278892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7780">
            <a:solidFill>
              <a:srgbClr val="0A25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46704" y="2788920"/>
            <a:ext cx="2651760" cy="256032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3346704" y="2788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Ministry (MSDE) &amp; Exchequers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38144" y="3108960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Plugs hundreds of crores in ghost trainee leakages.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national intelligence on scheme performance.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Objective, audit-ready data for CAG &amp; Parliament reviews.
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263640" y="1051560"/>
            <a:ext cx="5376672" cy="3364992"/>
          </a:xfrm>
          <a:prstGeom prst="roundRect">
            <a:avLst>
              <a:gd name="adj" fmla="val 2174"/>
            </a:avLst>
          </a:prstGeom>
          <a:solidFill>
            <a:srgbClr val="F8FAFC"/>
          </a:solidFill>
          <a:ln w="17780">
            <a:solidFill>
              <a:srgbClr val="0A25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14300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&amp; Intelligence in MSDE Dashboard MVP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0" y="1417320"/>
            <a:ext cx="5102352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417320"/>
            <a:ext cx="5102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Skilling Monitor | Active Centres: 14,820 | Discrepancy Rate: 3.2% | Health: 96.8%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1920240"/>
            <a:ext cx="1600200" cy="594360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9202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</a:rPr>
              <a:t>94.6% Compliant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</a:rPr>
              <a:t>13,980 Verified Centres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147304" y="1920240"/>
            <a:ext cx="1600200" cy="594360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19202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</a:rPr>
              <a:t>3.8% Minor Variance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</a:rPr>
              <a:t>560 Under Observation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902952" y="1920240"/>
            <a:ext cx="1600200" cy="594360"/>
          </a:xfrm>
          <a:prstGeom prst="roundRect">
            <a:avLst>
              <a:gd name="adj" fmla="val 7692"/>
            </a:avLst>
          </a:prstGeom>
          <a:solidFill>
            <a:srgbClr val="FEE2E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02952" y="19202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</a:rPr>
              <a:t>1.6% Red Flagged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</a:rPr>
              <a:t>240 Flying Squads Sent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400800" y="2606040"/>
            <a:ext cx="5102352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670048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AI Discrepancy Feed &amp; Evidence Vault (De-Identified Preview):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537960" y="2907792"/>
            <a:ext cx="48280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[10:45 AM] TC-28491 (Kanpur) | Batch #FIT-B1: </a:t>
            </a:r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Claimed 30 vs AI Headcount 9 (-70% Deficit) [Amber Alert]
</a:t>
            </a:r>
            <a:pPr indent="0" marL="0">
              <a:buNone/>
            </a:pPr>
            <a:r>
              <a:rPr lang="en-US" sz="72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[11:15 AM] TC-19204 (Patna) | Workshop #WLD-02: </a:t>
            </a:r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3 Sanctioned Welding Kits [Red Flagged]
</a:t>
            </a:r>
            <a:pPr indent="0" marL="0">
              <a:buNone/>
            </a:pPr>
            <a:r>
              <a:rPr lang="en-US" sz="72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[11:30 AM] TC-30112 (Bhopal) | Classroom #IT-04: </a:t>
            </a:r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Tamper / Blinding Detected [Urgent Notice]
</a:t>
            </a:r>
            <a:pPr indent="0" marL="0">
              <a:buNone/>
            </a:pPr>
            <a:r>
              <a:rPr lang="en-US" sz="720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Evidence Vault: Stores cryptographically signed (SHA-256) edge-blurred snapshot proofs.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548640" y="461772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4736592"/>
            <a:ext cx="2432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Impact
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Empowers rural youth with genuine trade competencies and protects honest, compliant training centres.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46704" y="461772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56432" y="4736592"/>
            <a:ext cx="2432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Impact
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hundreds of crores in exchequer leakages and cuts routine audit travel overhead by 75%.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44768" y="461772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54496" y="4736592"/>
            <a:ext cx="2432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Technological Impact
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Establishes a national benchmark for privacy-preserving, edge-native AI in government monitoring.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942832" y="461772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52560" y="4736592"/>
            <a:ext cx="2432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Impact
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objective, tamper-proof accreditation and real-time data-backed scheme policy updates.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Evidence-Backed Validation, Policy Alignment and Comparative Advantage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961120" y="292608"/>
            <a:ext cx="2679192" cy="530352"/>
          </a:xfrm>
          <a:prstGeom prst="roundRect">
            <a:avLst>
              <a:gd name="adj" fmla="val 13793"/>
            </a:avLst>
          </a:prstGeom>
          <a:solidFill>
            <a:srgbClr val="0A254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0" y="292608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CITATIONS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5240">
            <a:solidFill>
              <a:srgbClr val="0A25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143000"/>
            <a:ext cx="3392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Substantial Attendance Variance
</a:t>
            </a:r>
            <a:pPr indent="0" marL="0">
              <a:buNone/>
            </a:pPr>
            <a:r>
              <a:rPr lang="en-US" sz="74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 audits highlight 20-35% variance between reported trainee rosters and physical classroom occupancy in unmonitored vocational centres.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15968" y="10515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5240">
            <a:solidFill>
              <a:srgbClr val="0A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5696" y="1143000"/>
            <a:ext cx="3392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Mandatory DPDP Act 2023 Compliance
</a:t>
            </a:r>
            <a:pPr indent="0" marL="0">
              <a:buNone/>
            </a:pPr>
            <a:r>
              <a:rPr lang="en-US" sz="74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DPDP Act enforces strict data minimization. Continuous individual facial biometric surveillance is legally impermissible without explicit statutory exception.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83296" y="10515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5240">
            <a:solidFill>
              <a:srgbClr val="0A25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3024" y="1143000"/>
            <a:ext cx="3392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98.5% Bandwidth Reduction via Edge AI
</a:t>
            </a:r>
            <a:pPr indent="0" marL="0">
              <a:buNone/>
            </a:pPr>
            <a:r>
              <a:rPr lang="en-US" sz="74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1080p feeds from 15,000 centres requires 45 GB/day/centre. Edge-AI pushes 2 KB JSON metrics, saving over 98% bandwidth.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3957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Analysis: The Gap Drishti-Skilling Fills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670048"/>
            <a:ext cx="2286000" cy="274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Feature / Parameter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834640" y="2670048"/>
            <a:ext cx="2560320" cy="2743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8" name="Text 16"/>
          <p:cNvSpPr/>
          <p:nvPr/>
        </p:nvSpPr>
        <p:spPr>
          <a:xfrm>
            <a:off x="2880360" y="2670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Legacy Periodic Audits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394960" y="2670048"/>
            <a:ext cx="2834640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Generic Cloud CCTV Streaming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8229600" y="2670048"/>
            <a:ext cx="3410712" cy="2743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267004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Drishti-Skilling (Our Edge AI)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548640" y="2944368"/>
            <a:ext cx="228600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944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E293B"/>
                </a:solidFill>
              </a:rPr>
              <a:t>Monitoring Frequency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834640" y="2944368"/>
            <a:ext cx="256032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2944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Once in 3-6 months (Periodic)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394960" y="2944368"/>
            <a:ext cx="28346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2944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Continuous 24/7 (Passive)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229600" y="2944368"/>
            <a:ext cx="3410712" cy="256032"/>
          </a:xfrm>
          <a:prstGeom prst="rect">
            <a:avLst/>
          </a:prstGeom>
          <a:solidFill>
            <a:srgbClr val="EFF6FF"/>
          </a:solidFill>
          <a:ln w="10160">
            <a:solidFill>
              <a:srgbClr val="0066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2944368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66CC"/>
                </a:solidFill>
              </a:rPr>
              <a:t>✔ Near Real-Time (5-min Telemetry)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548640" y="3200400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200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E293B"/>
                </a:solidFill>
              </a:rPr>
              <a:t>Bandwidth Required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2834640" y="3200400"/>
            <a:ext cx="2560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80360" y="3200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Zero (Physical Visit)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394960" y="3200400"/>
            <a:ext cx="28346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1.5 - 2 Mbps / cam (Prohibitive)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229600" y="3200400"/>
            <a:ext cx="3410712" cy="256032"/>
          </a:xfrm>
          <a:prstGeom prst="rect">
            <a:avLst/>
          </a:prstGeom>
          <a:solidFill>
            <a:srgbClr val="EFF6FF"/>
          </a:solidFill>
          <a:ln w="10160">
            <a:solidFill>
              <a:srgbClr val="0066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3200400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66CC"/>
                </a:solidFill>
              </a:rPr>
              <a:t>✔ 2 - 5 KB JSON / 5 min (&lt;0.02 Mbps)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548640" y="3456432"/>
            <a:ext cx="228600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34564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E293B"/>
                </a:solidFill>
              </a:rPr>
              <a:t>Privacy Preservation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2834640" y="3456432"/>
            <a:ext cx="256032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80360" y="3456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High (Physical inspection)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394960" y="3456432"/>
            <a:ext cx="28346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40680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High Risk (Raw faces in cloud)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229600" y="3456432"/>
            <a:ext cx="3410712" cy="256032"/>
          </a:xfrm>
          <a:prstGeom prst="rect">
            <a:avLst/>
          </a:prstGeom>
          <a:solidFill>
            <a:srgbClr val="EFF6FF"/>
          </a:solidFill>
          <a:ln w="10160">
            <a:solidFill>
              <a:srgbClr val="0066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75320" y="3456432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66CC"/>
                </a:solidFill>
              </a:rPr>
              <a:t>✔ 100% DPDP Compliant (Edge Face Blur)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548640" y="3712464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712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E293B"/>
                </a:solidFill>
              </a:rPr>
              <a:t>Infrastructure Check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2834640" y="3712464"/>
            <a:ext cx="2560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80360" y="37124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Subjective / Staged on audit day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394960" y="3712464"/>
            <a:ext cx="28346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40680" y="3712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Manual video review required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8229600" y="3712464"/>
            <a:ext cx="3410712" cy="256032"/>
          </a:xfrm>
          <a:prstGeom prst="rect">
            <a:avLst/>
          </a:prstGeom>
          <a:solidFill>
            <a:srgbClr val="EFF6FF"/>
          </a:solidFill>
          <a:ln w="10160">
            <a:solidFill>
              <a:srgbClr val="0066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75320" y="3712464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66CC"/>
                </a:solidFill>
              </a:rPr>
              <a:t>✔ Automated YOLO Spatial Asset AI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548640" y="3968496"/>
            <a:ext cx="228600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" y="3968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E293B"/>
                </a:solidFill>
              </a:rPr>
              <a:t>Systemic Cost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834640" y="3968496"/>
            <a:ext cx="256032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80360" y="3968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High recurring travel &amp; DA costs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394960" y="3968496"/>
            <a:ext cx="28346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40680" y="39684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Prohibitive cloud GPU &amp; bandwidth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8229600" y="3968496"/>
            <a:ext cx="3410712" cy="256032"/>
          </a:xfrm>
          <a:prstGeom prst="rect">
            <a:avLst/>
          </a:prstGeom>
          <a:solidFill>
            <a:srgbClr val="EFF6FF"/>
          </a:solidFill>
          <a:ln w="10160">
            <a:solidFill>
              <a:srgbClr val="0066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75320" y="3968496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66CC"/>
                </a:solidFill>
              </a:rPr>
              <a:t>✔ Low-cost edge gateway (~₹6,500)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548640" y="4224528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" y="42245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E293B"/>
                </a:solidFill>
              </a:rPr>
              <a:t>Fraud Prevention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2834640" y="4224528"/>
            <a:ext cx="2560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80360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Retroactive (Fails to stop leakage)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394960" y="4224528"/>
            <a:ext cx="28346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40680" y="4224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Delayed (Weeks after fraud)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8229600" y="4224528"/>
            <a:ext cx="3410712" cy="256032"/>
          </a:xfrm>
          <a:prstGeom prst="rect">
            <a:avLst/>
          </a:prstGeom>
          <a:solidFill>
            <a:srgbClr val="EFF6FF"/>
          </a:solidFill>
          <a:ln w="10160">
            <a:solidFill>
              <a:srgbClr val="0066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75320" y="4224528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66CC"/>
                </a:solidFill>
              </a:rPr>
              <a:t>✔ Proactive (Auto-halts stipend release)</a:t>
            </a:r>
            <a:endParaRPr lang="en-US" sz="720" dirty="0"/>
          </a:p>
        </p:txBody>
      </p:sp>
      <p:sp>
        <p:nvSpPr>
          <p:cNvPr id="71" name="Shape 69"/>
          <p:cNvSpPr/>
          <p:nvPr/>
        </p:nvSpPr>
        <p:spPr>
          <a:xfrm>
            <a:off x="548640" y="457200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85800" y="4645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References &amp; Empirical Literature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85800" y="4892040"/>
            <a:ext cx="10789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Comptroller and Auditor General of India (CAG), "Performance Audit on National Skill Development Mission", Report No. 10.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Ministry of Skill Development and Entrepreneurship (MSDE), "Guidelines for Empanelment &amp; Monitoring of Training Centres", PMKVY 4.0.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Digital Personal Data Protection Act, 2023 (DPDP Act, Act No. 22 of 2023), Gazette of India (Data Minimization &amp; Privacy Provisions).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Smart India Hackathon 2026, Problem Statement #26245, Ministry of Skill Development and Entrepreneurship (MSDE).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Ultralytics, "YOLOv8 &amp; YOLOv11 Real-Time Object Detection on Low-Power Embedded Devices", Technical Benchmark Papers.
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Drishti-Skilling Prototype Demo &amp; Open Architecture Documentation: https://github.com/HackSolvers/Drishti-Skilling
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2026-10-15T10:44:54Z</dcterms:created>
  <dcterms:modified xsi:type="dcterms:W3CDTF">2026-10-15T10:44:54Z</dcterms:modified>
</cp:coreProperties>
</file>
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365D"/>
                </a:solidFill>
                <a:latin typeface="Arial"/>
              </a:defRPr>
            </a:pPr>
            <a:r>
              <a:t>Smart India Hackathon 2024</a:t>
            </a:r>
          </a:p>
        </p:txBody>
      </p:sp>
      <p:pic>
        <p:nvPicPr>
          <p:cNvPr id="3" name="Picture 2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82880"/>
            <a:ext cx="2468880" cy="11657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Problem Statement ID:</a:t>
            </a:r>
            <a:r>
              <a:rPr sz="2000" b="1">
                <a:solidFill>
                  <a:srgbClr val="007E8A"/>
                </a:solidFill>
                <a:latin typeface="Arial"/>
              </a:rPr>
              <a:t> SIH1591 / PS26245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PS Title:</a:t>
            </a:r>
            <a:r>
              <a:rPr sz="2000" b="1">
                <a:solidFill>
                  <a:srgbClr val="007E8A"/>
                </a:solidFill>
                <a:latin typeface="Arial"/>
              </a:rPr>
              <a:t> AI-Powered Edge Video Analytics &amp; Governance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Theme:</a:t>
            </a:r>
            <a:r>
              <a:rPr sz="2000" b="1">
                <a:solidFill>
                  <a:srgbClr val="007E8A"/>
                </a:solidFill>
                <a:latin typeface="Arial"/>
              </a:rPr>
              <a:t> Smart Automation / Governance &amp; Skilling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PS Category:</a:t>
            </a:r>
            <a:r>
              <a:rPr sz="2000" b="1">
                <a:solidFill>
                  <a:srgbClr val="007E8A"/>
                </a:solidFill>
                <a:latin typeface="Arial"/>
              </a:rPr>
              <a:t> Software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Team ID:</a:t>
            </a:r>
            <a:r>
              <a:rPr sz="2000" b="1">
                <a:solidFill>
                  <a:srgbClr val="007E8A"/>
                </a:solidFill>
                <a:latin typeface="Arial"/>
              </a:rPr>
              <a:t> [Team ID]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Team Name:</a:t>
            </a:r>
            <a:r>
              <a:rPr sz="2000" b="1">
                <a:solidFill>
                  <a:srgbClr val="007E8A"/>
                </a:solidFill>
                <a:latin typeface="Arial"/>
              </a:rPr>
              <a:t> Drishti Innovators / HackSolvers</a:t>
            </a:r>
          </a:p>
        </p:txBody>
      </p:sp>
      <p:pic>
        <p:nvPicPr>
          <p:cNvPr id="5" name="Picture 4" descr="sih_bulb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88720"/>
            <a:ext cx="3017520" cy="3234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48463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284C7"/>
                </a:solidFill>
                <a:latin typeface="Arial"/>
              </a:defRPr>
            </a:pPr>
            <a:r>
              <a:t>Drishti-Skilling</a:t>
            </a:r>
          </a:p>
          <a:p>
            <a:pPr algn="ctr">
              <a:defRPr sz="1300">
                <a:solidFill>
                  <a:srgbClr val="475569"/>
                </a:solidFill>
                <a:latin typeface="Arial"/>
              </a:defRPr>
            </a:pPr>
            <a:r>
              <a:t>~ Privacy-Preserving Edge AI Governance for Vocational Centres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DRISHTI-SKILLING</a:t>
            </a:r>
          </a:p>
          <a:p>
            <a:pPr algn="ctr">
              <a:defRPr sz="1100" i="1">
                <a:solidFill>
                  <a:srgbClr val="475569"/>
                </a:solidFill>
                <a:latin typeface="Georgia"/>
              </a:defRPr>
            </a:pPr>
            <a:r>
              <a:t>Privacy-Preserving Edge AI Governance for Vocational Centres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960120"/>
            <a:ext cx="4800600" cy="420624"/>
          </a:xfrm>
          <a:prstGeom prst="roundRect">
            <a:avLst/>
          </a:prstGeom>
          <a:solidFill>
            <a:srgbClr val="0B69A3"/>
          </a:solidFill>
          <a:ln w="1524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💡  Proposed Solution / Approach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26464"/>
            <a:ext cx="4800600" cy="4974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/>
            <a:r>
              <a:rPr sz="980" b="1">
                <a:solidFill>
                  <a:srgbClr val="0F172A"/>
                </a:solidFill>
                <a:latin typeface="Arial"/>
              </a:rPr>
              <a:t>• Assured Edge Video Analytics: </a:t>
            </a:r>
            <a:r>
              <a:rPr sz="919">
                <a:solidFill>
                  <a:srgbClr val="475569"/>
                </a:solidFill>
                <a:latin typeface="Arial"/>
              </a:rPr>
              <a:t>Eliminates bandwidth bottlenecks by ingesting existing lab RTSP CCTV feeds locally on an affordable on-premise Mini-PC. Processes frames on-device with zero raw cloud video streaming required.</a:t>
            </a:r>
          </a:p>
          <a:p>
            <a:pPr>
              <a:spcBef>
                <a:spcPts val="600"/>
              </a:spcBef>
            </a:pPr>
            <a:r>
              <a:rPr sz="980" b="1">
                <a:solidFill>
                  <a:srgbClr val="0F172A"/>
                </a:solidFill>
                <a:latin typeface="Arial"/>
              </a:rPr>
              <a:t>• 50 FPS Volatile RAM Face De-ID: </a:t>
            </a:r>
            <a:r>
              <a:rPr sz="919">
                <a:solidFill>
                  <a:srgbClr val="475569"/>
                </a:solidFill>
                <a:latin typeface="Arial"/>
              </a:rPr>
              <a:t>Irreversibly blurs trainee faces directly in volatile RAM via BlazeFace before any processing. Fully compliant with DPDP Act 2023 with zero facial biometric vectors stored or leaked.</a:t>
            </a:r>
          </a:p>
          <a:p>
            <a:pPr>
              <a:spcBef>
                <a:spcPts val="600"/>
              </a:spcBef>
            </a:pPr>
            <a:r>
              <a:rPr sz="980" b="1">
                <a:solidFill>
                  <a:srgbClr val="0F172A"/>
                </a:solidFill>
                <a:latin typeface="Arial"/>
              </a:rPr>
              <a:t>• Dual-Factor Trainee &amp; Equipment Audit: </a:t>
            </a:r>
            <a:r>
              <a:rPr sz="919">
                <a:solidFill>
                  <a:srgbClr val="475569"/>
                </a:solidFill>
                <a:latin typeface="Arial"/>
              </a:rPr>
              <a:t>YOLOv8 simultaneously verifies physical student presence and audits mandatory trade machines (welding booths, wiring boards, multimeters) to eradicate rented machinery scams.</a:t>
            </a:r>
          </a:p>
          <a:p>
            <a:pPr>
              <a:spcBef>
                <a:spcPts val="600"/>
              </a:spcBef>
            </a:pPr>
            <a:r>
              <a:rPr sz="980" b="1">
                <a:solidFill>
                  <a:srgbClr val="0F172A"/>
                </a:solidFill>
                <a:latin typeface="Arial"/>
              </a:rPr>
              <a:t>• Temporal Consistency Rolling Filter: </a:t>
            </a:r>
            <a:r>
              <a:rPr sz="919">
                <a:solidFill>
                  <a:srgbClr val="475569"/>
                </a:solidFill>
                <a:latin typeface="Arial"/>
              </a:rPr>
              <a:t>Enforces a 5-minute rolling average window to eliminate false alarms caused by transient student movement, washroom breaks, or water intervals during practical sessions.</a:t>
            </a:r>
          </a:p>
          <a:p>
            <a:pPr>
              <a:spcBef>
                <a:spcPts val="600"/>
              </a:spcBef>
            </a:pPr>
            <a:r>
              <a:rPr sz="980" b="1">
                <a:solidFill>
                  <a:srgbClr val="0F172A"/>
                </a:solidFill>
                <a:latin typeface="Arial"/>
              </a:rPr>
              <a:t>• Automated Timetable Cross-Reconciliation: </a:t>
            </a:r>
            <a:r>
              <a:rPr sz="919">
                <a:solidFill>
                  <a:srgbClr val="475569"/>
                </a:solidFill>
                <a:latin typeface="Arial"/>
              </a:rPr>
              <a:t>Cross-matches edge telemetry against Skill India Portal (SIDH) rosters in real-time, automatically flagging ghost enrollments and locking DBT subsidy grants on deficit.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284C7"/>
                </a:solidFill>
                <a:latin typeface="Arial"/>
              </a:rPr>
              <a:t>🔗 Live Production Demo: </a:t>
            </a:r>
            <a:r>
              <a:rPr sz="900" b="1" u="sng">
                <a:solidFill>
                  <a:srgbClr val="0284C7"/>
                </a:solidFill>
                <a:latin typeface="Arial"/>
              </a:rPr>
              <a:t>https://drishti-skilling.vercel.app/</a:t>
            </a:r>
          </a:p>
        </p:txBody>
      </p:sp>
      <p:pic>
        <p:nvPicPr>
          <p:cNvPr id="8" name="Picture 7" descr="slide2_workflow_e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08" y="960120"/>
            <a:ext cx="6537960" cy="3080385"/>
          </a:xfrm>
          <a:prstGeom prst="rect">
            <a:avLst/>
          </a:prstGeom>
        </p:spPr>
      </p:pic>
      <p:pic>
        <p:nvPicPr>
          <p:cNvPr id="9" name="Picture 8" descr="slide2_innovation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4096512"/>
            <a:ext cx="6537960" cy="27031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Technical Approach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10B981"/>
                </a:solidFill>
              </a:defRPr>
            </a:pPr>
            <a:r>
              <a:t>Edge AI &amp; Vision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BlazeFace 50 FPS De-ID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YOLOv8-Nano Head Count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COCO Spatial Asset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0584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0284C7"/>
                </a:solidFill>
              </a:defRPr>
            </a:pPr>
            <a:r>
              <a:t>Backend &amp; API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Node.js &amp; Express REST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FastAPI / Python Edge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MQTT Telemetry Broker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9456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D97706"/>
                </a:solidFill>
              </a:defRPr>
            </a:pPr>
            <a:r>
              <a:t>Frontend &amp; GIS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HTML5 &amp; TailwindCSS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Leaflet.js GIS Mapping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Chart.js Live Telemetry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19456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007E8A"/>
                </a:solidFill>
              </a:defRPr>
            </a:pPr>
            <a:r>
              <a:t>Security &amp; DB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DPDP Act 2023 RAM Shield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Scrypt Auth &amp; Signed JWT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SQLite &amp;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383280"/>
            <a:ext cx="5669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b="1" sz="1300">
                <a:solidFill>
                  <a:srgbClr val="007E8A"/>
                </a:solidFill>
              </a:defRPr>
            </a:pPr>
            <a:r>
              <a:t>Methodology and process for implementation</a:t>
            </a:r>
          </a:p>
          <a:p>
            <a:pPr>
              <a:spcBef>
                <a:spcPts val="500"/>
              </a:spcBef>
              <a:defRPr b="1" sz="1000">
                <a:solidFill>
                  <a:srgbClr val="1B365D"/>
                </a:solidFill>
              </a:defRPr>
            </a:pPr>
            <a:r>
              <a:t>➔ Core Architecture: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Edge Gateway: RTSP stream capture from existing classroom/lab CCTV.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Volatile RAM De-ID: BlazeFace hardware downscaled inference (&lt;12ms) with zero raw face storage.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YOLO Headcount &amp; Asset Check: Temporal 5-minute rolling average to suppress momentary false flags.</a:t>
            </a:r>
          </a:p>
          <a:p>
            <a:pPr>
              <a:spcBef>
                <a:spcPts val="500"/>
              </a:spcBef>
              <a:defRPr b="1" sz="1000">
                <a:solidFill>
                  <a:srgbClr val="1B365D"/>
                </a:solidFill>
              </a:defRPr>
            </a:pPr>
            <a:r>
              <a:t>➔ Integration &amp; Security: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Encrypted Telemetry: Transmits 2-5 KB JSON packets to cloud via MQTT/HTTPS.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Automated SIP Reconciliation: Live cross-check against Skill India Portal batch roster.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Security &amp; Cryptography: Scrypt password hashing, JWT token authorization, and SHA-256 evidence signing.</a:t>
            </a:r>
          </a:p>
        </p:txBody>
      </p:sp>
      <p:pic>
        <p:nvPicPr>
          <p:cNvPr id="11" name="Picture 10" descr="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577840" cy="46660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Feasibility &amp; Viability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6" name="Picture 5" descr="slide4_min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11247120" cy="29931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0284C7"/>
                </a:solidFill>
              </a:defRPr>
            </a:pPr>
            <a:r>
              <a:t>TECHNICAL FEASIBILITY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Reuses standard RTSP CCTV / DVRs.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INT8 YOLOv8 runs 25+ FPS locally.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BlazeFace 50 FPS de-identification.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Working MVP deployed on Vercel.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007E8A"/>
                </a:solidFill>
              </a:defRPr>
            </a:pPr>
            <a:r>
              <a:t>MARKET &amp; SCALE FEASIBILITY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Applies to 15,000+ national centres.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Extensible to ITIs, PMKVY, DGT, polytechnics.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Dockerized OTA automated deployment.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10-minute web setup wizard.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FINANCIAL FEASIBILITY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Low CapEx: ~₹6,500 edge unit per centre.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OpEx &lt;₹80/mo (replaces ₹1,800 streaming).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Saves ₹100+ Cr in ghost stipend fraud.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Cuts physical audit travel by 75%.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10B981"/>
                </a:solidFill>
              </a:defRPr>
            </a:pPr>
            <a:r>
              <a:t>OPERATIONAL &amp; REGULATORY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100% compliant with DPDP Act 2023.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Zero biometric or Aadhaar storage.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Ensures rural youth get real trade skills.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Accelerates payouts for ethical partners.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17220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50">
                <a:solidFill>
                  <a:srgbClr val="0284C7"/>
                </a:solidFill>
              </a:defRPr>
            </a:pPr>
            <a:r>
              <a:t>Interactive System Prototype: https://drishti-skilling.vercel.app/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Impact and Benefits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E8A"/>
                </a:solidFill>
              </a:defRPr>
            </a:pPr>
            <a:r>
              <a:t>🌍 Potential Impact &amp; Benefits of Solution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49047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41732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Plugs Ghost Trainee Leakages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Stops ₹100+ Crores in fraudulent stipend claims; halts illegal payouts automatically.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26771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19456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Guarantees Real Youth Skills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Enforces mandatory physical trainer presence &amp; hands-on equipment practice for trainees.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4495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97180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99.4% Rural Bandwidth Reduction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Operates smoothly on 2G/3G links with 2-5 KB JSON metrics; saves millions in streaming bills.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22191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749039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100% DPDP Act 2023 Compliance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Volatile RAM face-blurring guarantees zero citizen facial biometrics stored or leaked.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59943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52628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75% Audit Travel Cost Reduction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Objective risk triage directs flying squads only to red-flagged hotspot centres.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37667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530352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Faster Payouts for Ethical Centres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Automated compliance index clears verified training centres for rapid subsidy disbursement.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60120"/>
            <a:ext cx="4114800" cy="4114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b="1" sz="1350">
                <a:solidFill>
                  <a:srgbClr val="007E8A"/>
                </a:solidFill>
              </a:defRPr>
            </a:pPr>
            <a:r>
              <a:t>💡 Roadmap &amp; Future Goals (Deployment Sprints)</a:t>
            </a:r>
          </a:p>
        </p:txBody>
      </p:sp>
      <p:pic>
        <p:nvPicPr>
          <p:cNvPr id="20" name="Picture 19" descr="slide5_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3267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Research and References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1247120" cy="5303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defRPr b="1" sz="1500">
                <a:solidFill>
                  <a:srgbClr val="007E8A"/>
                </a:solidFill>
              </a:defRPr>
            </a:pPr>
            <a:r>
              <a:t>Details / Links of the reference and research work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1. Comptroller and Auditor General of India (CAG): </a:t>
            </a:r>
            <a:r>
              <a:rPr sz="1000">
                <a:solidFill>
                  <a:srgbClr val="0F172A"/>
                </a:solidFill>
                <a:latin typeface="Arial"/>
              </a:rPr>
              <a:t>Performance Audit on National Skill Development Mission (Report No. 10 of 2018), documenting 25-35% variance between reported trainee rosters and physical classroom occupancy in unmonitored centres.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2. Ministry of Skill Development and Entrepreneurship (MSDE): </a:t>
            </a:r>
            <a:r>
              <a:rPr sz="1000">
                <a:solidFill>
                  <a:srgbClr val="0F172A"/>
                </a:solidFill>
                <a:latin typeface="Arial"/>
              </a:rPr>
              <a:t>Guidelines for Empanelment &amp; Continuous Monitoring of Training Centres (PMKVY 4.0 / DGT Norms), specifying mandatory trainer-trainee ratios, equipment checklists, and biometric audit requirements.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3. Digital Personal Data Protection Act, 2023 (DPDP Act): </a:t>
            </a:r>
            <a:r>
              <a:rPr sz="1000">
                <a:solidFill>
                  <a:srgbClr val="0F172A"/>
                </a:solidFill>
                <a:latin typeface="Arial"/>
              </a:rPr>
              <a:t>Act No. 22 of 2023, Gazette of India, Section 6 &amp; 8 (Data Minimization &amp; Purpose Limitation Principles), mandating edge-level de-identification and prohibiting continuous storage of raw facial biometrics.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4. Ultralytics &amp; Google Research (Edge Vision Benchmarks): </a:t>
            </a:r>
            <a:r>
              <a:rPr sz="1000">
                <a:solidFill>
                  <a:srgbClr val="0F172A"/>
                </a:solidFill>
                <a:latin typeface="Arial"/>
              </a:rPr>
              <a:t>YOLOv8-Nano and BlazeFace Real-Time Performance on Resource-Constrained Embedded Devices (Edge TPUs and Intel N100 Mini-PCs), demonstrating 25-50 FPS throughput at sub-15W power envelope.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5. Ministry of Electronics and Information Technology (MeitY): </a:t>
            </a:r>
            <a:r>
              <a:rPr sz="1000">
                <a:solidFill>
                  <a:srgbClr val="0F172A"/>
                </a:solidFill>
                <a:latin typeface="Arial"/>
              </a:rPr>
              <a:t>IoT &amp; Edge AI Architectural Guidelines for Public Sector Service Delivery, emphasizing local compute, store-and-forward telemetry, and cryptographic verification of audit records.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6. National Skill Development Corporation (NSDC): </a:t>
            </a:r>
            <a:r>
              <a:rPr sz="1000">
                <a:solidFill>
                  <a:srgbClr val="0F172A"/>
                </a:solidFill>
                <a:latin typeface="Arial"/>
              </a:rPr>
              <a:t>Standard Operating Procedures for Skill India Digital Hub (SIDH) Batch Accreditation &amp; Verification, detailing API interfaces for third-party automated discrepancy reporting.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7. Drishti-Skilling Production Platform &amp; Verifiable Codebase: </a:t>
            </a:r>
            <a:r>
              <a:rPr sz="1000">
                <a:solidFill>
                  <a:srgbClr val="0F172A"/>
                </a:solidFill>
                <a:latin typeface="Arial"/>
              </a:rPr>
              <a:t>Live Web Platform: https://drishti-skilling.vercel.app/ | Architecture &amp; Audit Test Suite: https://github.com/aetherpixels/drishti-skilling (17/17 Security &amp; RBAC automated audit tests passing).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
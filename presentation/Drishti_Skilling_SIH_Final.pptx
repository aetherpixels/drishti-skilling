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320040"/>
            <a:ext cx="7772400" cy="731520"/>
          </a:xfrm>
          <a:prstGeom prst="rect">
            <a:avLst/>
          </a:prstGeom>
          <a:noFill/>
        </p:spPr>
        <p:txBody>
          <a:bodyPr wrap="none">
            <a:spAutoFit/>
          </a:bodyPr>
          <a:lstStyle/>
          <a:p>
            <a:pPr algn="ctr">
              <a:defRPr sz="3600" b="1">
                <a:solidFill>
                  <a:srgbClr val="1B365D"/>
                </a:solidFill>
                <a:latin typeface="Arial"/>
              </a:defRPr>
            </a:pPr>
            <a:r>
              <a:t>Smart India Hackathon 2024</a:t>
            </a:r>
          </a:p>
        </p:txBody>
      </p:sp>
      <p:pic>
        <p:nvPicPr>
          <p:cNvPr id="3" name="Picture 2" descr="slide_1_img_6.png"/>
          <p:cNvPicPr>
            <a:picLocks noChangeAspect="1"/>
          </p:cNvPicPr>
          <p:nvPr/>
        </p:nvPicPr>
        <p:blipFill>
          <a:blip r:embed="rId2"/>
          <a:stretch>
            <a:fillRect/>
          </a:stretch>
        </p:blipFill>
        <p:spPr>
          <a:xfrm>
            <a:off x="9326880" y="182880"/>
            <a:ext cx="2468880" cy="1165726"/>
          </a:xfrm>
          <a:prstGeom prst="rect">
            <a:avLst/>
          </a:prstGeom>
        </p:spPr>
      </p:pic>
      <p:sp>
        <p:nvSpPr>
          <p:cNvPr id="4" name="TextBox 3"/>
          <p:cNvSpPr txBox="1"/>
          <p:nvPr/>
        </p:nvSpPr>
        <p:spPr>
          <a:xfrm>
            <a:off x="731520" y="1371600"/>
            <a:ext cx="5943600" cy="4754880"/>
          </a:xfrm>
          <a:prstGeom prst="rect">
            <a:avLst/>
          </a:prstGeom>
          <a:noFill/>
        </p:spPr>
        <p:txBody>
          <a:bodyPr wrap="square">
            <a:spAutoFit/>
          </a:bodyPr>
          <a:lstStyle/>
          <a:p>
            <a:pPr>
              <a:spcBef>
                <a:spcPts val="1800"/>
              </a:spcBef>
            </a:pPr>
            <a:r>
              <a:rPr sz="2000" b="1">
                <a:solidFill>
                  <a:srgbClr val="0F172A"/>
                </a:solidFill>
                <a:latin typeface="Arial"/>
              </a:rPr>
              <a:t>• Problem Statement ID:</a:t>
            </a:r>
            <a:r>
              <a:rPr sz="2000" b="1">
                <a:solidFill>
                  <a:srgbClr val="007E8A"/>
                </a:solidFill>
                <a:latin typeface="Arial"/>
              </a:rPr>
              <a:t> SIH1591 / PS26245</a:t>
            </a:r>
          </a:p>
          <a:p>
            <a:pPr>
              <a:spcBef>
                <a:spcPts val="1800"/>
              </a:spcBef>
            </a:pPr>
            <a:r>
              <a:rPr sz="2000" b="1">
                <a:solidFill>
                  <a:srgbClr val="0F172A"/>
                </a:solidFill>
                <a:latin typeface="Arial"/>
              </a:rPr>
              <a:t>• PS Title:</a:t>
            </a:r>
            <a:r>
              <a:rPr sz="2000" b="1">
                <a:solidFill>
                  <a:srgbClr val="007E8A"/>
                </a:solidFill>
                <a:latin typeface="Arial"/>
              </a:rPr>
              <a:t> AI-Powered Edge Video Analytics &amp; Governance</a:t>
            </a:r>
          </a:p>
          <a:p>
            <a:pPr>
              <a:spcBef>
                <a:spcPts val="1800"/>
              </a:spcBef>
            </a:pPr>
            <a:r>
              <a:rPr sz="2000" b="1">
                <a:solidFill>
                  <a:srgbClr val="0F172A"/>
                </a:solidFill>
                <a:latin typeface="Arial"/>
              </a:rPr>
              <a:t>• Theme:</a:t>
            </a:r>
            <a:r>
              <a:rPr sz="2000" b="1">
                <a:solidFill>
                  <a:srgbClr val="007E8A"/>
                </a:solidFill>
                <a:latin typeface="Arial"/>
              </a:rPr>
              <a:t> Smart Automation / Governance &amp; Skilling</a:t>
            </a:r>
          </a:p>
          <a:p>
            <a:pPr>
              <a:spcBef>
                <a:spcPts val="1800"/>
              </a:spcBef>
            </a:pPr>
            <a:r>
              <a:rPr sz="2000" b="1">
                <a:solidFill>
                  <a:srgbClr val="0F172A"/>
                </a:solidFill>
                <a:latin typeface="Arial"/>
              </a:rPr>
              <a:t>• PS Category:</a:t>
            </a:r>
            <a:r>
              <a:rPr sz="2000" b="1">
                <a:solidFill>
                  <a:srgbClr val="007E8A"/>
                </a:solidFill>
                <a:latin typeface="Arial"/>
              </a:rPr>
              <a:t> Software</a:t>
            </a:r>
          </a:p>
          <a:p>
            <a:pPr>
              <a:spcBef>
                <a:spcPts val="1800"/>
              </a:spcBef>
            </a:pPr>
            <a:r>
              <a:rPr sz="2000" b="1">
                <a:solidFill>
                  <a:srgbClr val="0F172A"/>
                </a:solidFill>
                <a:latin typeface="Arial"/>
              </a:rPr>
              <a:t>• Team ID:</a:t>
            </a:r>
            <a:r>
              <a:rPr sz="2000" b="1">
                <a:solidFill>
                  <a:srgbClr val="007E8A"/>
                </a:solidFill>
                <a:latin typeface="Arial"/>
              </a:rPr>
              <a:t> [Team ID]</a:t>
            </a:r>
          </a:p>
          <a:p>
            <a:pPr>
              <a:spcBef>
                <a:spcPts val="1800"/>
              </a:spcBef>
            </a:pPr>
            <a:r>
              <a:rPr sz="2000" b="1">
                <a:solidFill>
                  <a:srgbClr val="0F172A"/>
                </a:solidFill>
                <a:latin typeface="Arial"/>
              </a:rPr>
              <a:t>• Team Name:</a:t>
            </a:r>
            <a:r>
              <a:rPr sz="2000" b="1">
                <a:solidFill>
                  <a:srgbClr val="007E8A"/>
                </a:solidFill>
                <a:latin typeface="Arial"/>
              </a:rPr>
              <a:t> Drishti Innovators / HackSolvers</a:t>
            </a:r>
          </a:p>
        </p:txBody>
      </p:sp>
      <p:pic>
        <p:nvPicPr>
          <p:cNvPr id="5" name="Picture 4" descr="sih_bulb_clean.png"/>
          <p:cNvPicPr>
            <a:picLocks noChangeAspect="1"/>
          </p:cNvPicPr>
          <p:nvPr/>
        </p:nvPicPr>
        <p:blipFill>
          <a:blip r:embed="rId3"/>
          <a:stretch>
            <a:fillRect/>
          </a:stretch>
        </p:blipFill>
        <p:spPr>
          <a:xfrm>
            <a:off x="7589520" y="1188720"/>
            <a:ext cx="3017520" cy="3234899"/>
          </a:xfrm>
          <a:prstGeom prst="rect">
            <a:avLst/>
          </a:prstGeom>
        </p:spPr>
      </p:pic>
      <p:sp>
        <p:nvSpPr>
          <p:cNvPr id="6" name="TextBox 5"/>
          <p:cNvSpPr txBox="1"/>
          <p:nvPr/>
        </p:nvSpPr>
        <p:spPr>
          <a:xfrm>
            <a:off x="6583680" y="4846320"/>
            <a:ext cx="5029200" cy="1280160"/>
          </a:xfrm>
          <a:prstGeom prst="rect">
            <a:avLst/>
          </a:prstGeom>
          <a:noFill/>
        </p:spPr>
        <p:txBody>
          <a:bodyPr wrap="square">
            <a:spAutoFit/>
          </a:bodyPr>
          <a:lstStyle/>
          <a:p>
            <a:pPr algn="ctr">
              <a:defRPr sz="3200" b="1">
                <a:solidFill>
                  <a:srgbClr val="0284C7"/>
                </a:solidFill>
                <a:latin typeface="Arial"/>
              </a:defRPr>
            </a:pPr>
            <a:r>
              <a:t>Drishti-Skilling</a:t>
            </a:r>
          </a:p>
          <a:p>
            <a:pPr algn="ctr">
              <a:defRPr sz="1300">
                <a:solidFill>
                  <a:srgbClr val="475569"/>
                </a:solidFill>
                <a:latin typeface="Arial"/>
              </a:defRPr>
            </a:pPr>
            <a:r>
              <a:t>~ Privacy-Preserving Edge AI Governance for Vocational Centres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65760" y="182880"/>
            <a:ext cx="1371600" cy="640080"/>
          </a:xfrm>
          <a:prstGeom prst="roundRect">
            <a:avLst/>
          </a:prstGeom>
          <a:solidFill>
            <a:srgbClr val="FFFFFF"/>
          </a:solidFill>
          <a:ln w="254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B365D"/>
                </a:solidFill>
                <a:latin typeface="Arial"/>
              </a:defRPr>
            </a:pPr>
            <a:r>
              <a:t>(DS)</a:t>
            </a:r>
          </a:p>
        </p:txBody>
      </p:sp>
      <p:sp>
        <p:nvSpPr>
          <p:cNvPr id="3" name="TextBox 2"/>
          <p:cNvSpPr txBox="1"/>
          <p:nvPr/>
        </p:nvSpPr>
        <p:spPr>
          <a:xfrm>
            <a:off x="1828800" y="164592"/>
            <a:ext cx="7315200" cy="685800"/>
          </a:xfrm>
          <a:prstGeom prst="rect">
            <a:avLst/>
          </a:prstGeom>
          <a:noFill/>
        </p:spPr>
        <p:txBody>
          <a:bodyPr wrap="none" anchor="ctr">
            <a:spAutoFit/>
          </a:bodyPr>
          <a:lstStyle/>
          <a:p>
            <a:pPr algn="ctr">
              <a:defRPr sz="2800" b="1">
                <a:solidFill>
                  <a:srgbClr val="0F172A"/>
                </a:solidFill>
                <a:latin typeface="Arial"/>
              </a:defRPr>
            </a:pPr>
            <a:r>
              <a:t>Drishti-Skilling</a:t>
            </a:r>
          </a:p>
        </p:txBody>
      </p:sp>
      <p:pic>
        <p:nvPicPr>
          <p:cNvPr id="4" name="Picture 3" descr="slide_1_img_6.png"/>
          <p:cNvPicPr>
            <a:picLocks noChangeAspect="1"/>
          </p:cNvPicPr>
          <p:nvPr/>
        </p:nvPicPr>
        <p:blipFill>
          <a:blip r:embed="rId2"/>
          <a:stretch>
            <a:fillRect/>
          </a:stretch>
        </p:blipFill>
        <p:spPr>
          <a:xfrm>
            <a:off x="9601200" y="137160"/>
            <a:ext cx="2194560" cy="1036201"/>
          </a:xfrm>
          <a:prstGeom prst="rect">
            <a:avLst/>
          </a:prstGeom>
        </p:spPr>
      </p:pic>
      <p:sp>
        <p:nvSpPr>
          <p:cNvPr id="5" name="TextBox 4"/>
          <p:cNvSpPr txBox="1"/>
          <p:nvPr/>
        </p:nvSpPr>
        <p:spPr>
          <a:xfrm>
            <a:off x="11155680" y="6217920"/>
            <a:ext cx="731520" cy="457200"/>
          </a:xfrm>
          <a:prstGeom prst="rect">
            <a:avLst/>
          </a:prstGeom>
          <a:noFill/>
        </p:spPr>
        <p:txBody>
          <a:bodyPr wrap="none">
            <a:spAutoFit/>
          </a:bodyPr>
          <a:lstStyle/>
          <a:p>
            <a:pPr algn="r">
              <a:defRPr sz="2400" b="1">
                <a:solidFill>
                  <a:srgbClr val="007E8A"/>
                </a:solidFill>
                <a:latin typeface="Arial"/>
              </a:defRPr>
            </a:pPr>
            <a:r>
              <a:t>2</a:t>
            </a:r>
          </a:p>
        </p:txBody>
      </p:sp>
      <p:sp>
        <p:nvSpPr>
          <p:cNvPr id="6" name="Rounded Rectangle 5"/>
          <p:cNvSpPr/>
          <p:nvPr/>
        </p:nvSpPr>
        <p:spPr>
          <a:xfrm>
            <a:off x="365760" y="1005840"/>
            <a:ext cx="5852160" cy="5303520"/>
          </a:xfrm>
          <a:prstGeom prst="roundRect">
            <a:avLst/>
          </a:prstGeom>
          <a:solidFill>
            <a:srgbClr val="FFFFFF"/>
          </a:solidFill>
          <a:ln w="19050">
            <a:solidFill>
              <a:srgbClr val="007E8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400" b="1">
                <a:solidFill>
                  <a:srgbClr val="007E8A"/>
                </a:solidFill>
                <a:latin typeface="Arial"/>
              </a:defRPr>
            </a:pPr>
            <a:r>
              <a:t>Detailed explanation of the proposed solution</a:t>
            </a:r>
          </a:p>
          <a:p>
            <a:pPr>
              <a:spcBef>
                <a:spcPts val="600"/>
              </a:spcBef>
              <a:defRPr sz="980">
                <a:solidFill>
                  <a:srgbClr val="0F172A"/>
                </a:solidFill>
                <a:latin typeface="Arial"/>
              </a:defRPr>
            </a:pPr>
            <a:r>
              <a:t>Drishti-Skilling is an edge-native, privacy-preserving video analytics platform designed to transform vocational centre monitoring under national schemes (PMKVY, DGT, ITIs). It guarantees authentic trainee attendance and verifies practical lab infrastructure while completely protecting citizen privacy through real-time hardware-accelerated face de-identification.</a:t>
            </a:r>
          </a:p>
          <a:p>
            <a:pPr>
              <a:spcBef>
                <a:spcPts val="600"/>
              </a:spcBef>
              <a:defRPr sz="980">
                <a:solidFill>
                  <a:srgbClr val="0F172A"/>
                </a:solidFill>
                <a:latin typeface="Arial"/>
              </a:defRPr>
            </a:pPr>
            <a:r>
              <a:t>Key capabilities include High-Frequency 50 FPS Face De-Identification (DPDP Act 2023 compliant), Spatial Headcount &amp; Machinery Detection (YOLOv8), 72-Hour Offline Store-and-Forward Telemetry (syncing ultra-light 2-5 KB JSON packets), and Real-Time Timetable Reconciliation against Skill India Portal rosters. The system delivers automated risk-tiered triage for flying squads and eliminates stipend fraud.</a:t>
            </a:r>
          </a:p>
        </p:txBody>
      </p:sp>
      <p:pic>
        <p:nvPicPr>
          <p:cNvPr id="7" name="Picture 6" descr="slide2_orbital.png"/>
          <p:cNvPicPr>
            <a:picLocks noChangeAspect="1"/>
          </p:cNvPicPr>
          <p:nvPr/>
        </p:nvPicPr>
        <p:blipFill>
          <a:blip r:embed="rId3"/>
          <a:stretch>
            <a:fillRect/>
          </a:stretch>
        </p:blipFill>
        <p:spPr>
          <a:xfrm>
            <a:off x="502920" y="4736592"/>
            <a:ext cx="5577840" cy="1065430"/>
          </a:xfrm>
          <a:prstGeom prst="rect">
            <a:avLst/>
          </a:prstGeom>
        </p:spPr>
      </p:pic>
      <p:sp>
        <p:nvSpPr>
          <p:cNvPr id="8" name="TextBox 7"/>
          <p:cNvSpPr txBox="1"/>
          <p:nvPr/>
        </p:nvSpPr>
        <p:spPr>
          <a:xfrm>
            <a:off x="6492240" y="960120"/>
            <a:ext cx="5303520" cy="320040"/>
          </a:xfrm>
          <a:prstGeom prst="rect">
            <a:avLst/>
          </a:prstGeom>
          <a:noFill/>
        </p:spPr>
        <p:txBody>
          <a:bodyPr wrap="none" lIns="0" tIns="0">
            <a:spAutoFit/>
          </a:bodyPr>
          <a:lstStyle/>
          <a:p>
            <a:pPr>
              <a:defRPr sz="1300" b="1">
                <a:solidFill>
                  <a:srgbClr val="007E8A"/>
                </a:solidFill>
                <a:latin typeface="Arial"/>
              </a:defRPr>
            </a:pPr>
            <a:r>
              <a:t>How it addresses the problem</a:t>
            </a:r>
          </a:p>
        </p:txBody>
      </p:sp>
      <p:pic>
        <p:nvPicPr>
          <p:cNvPr id="9" name="Picture 8" descr="slide2_workflow.png"/>
          <p:cNvPicPr>
            <a:picLocks noChangeAspect="1"/>
          </p:cNvPicPr>
          <p:nvPr/>
        </p:nvPicPr>
        <p:blipFill>
          <a:blip r:embed="rId4"/>
          <a:stretch>
            <a:fillRect/>
          </a:stretch>
        </p:blipFill>
        <p:spPr>
          <a:xfrm>
            <a:off x="6492240" y="1298448"/>
            <a:ext cx="5303520" cy="2083526"/>
          </a:xfrm>
          <a:prstGeom prst="rect">
            <a:avLst/>
          </a:prstGeom>
        </p:spPr>
      </p:pic>
      <p:sp>
        <p:nvSpPr>
          <p:cNvPr id="10" name="TextBox 9"/>
          <p:cNvSpPr txBox="1"/>
          <p:nvPr/>
        </p:nvSpPr>
        <p:spPr>
          <a:xfrm>
            <a:off x="6492240" y="3547872"/>
            <a:ext cx="5303520" cy="320040"/>
          </a:xfrm>
          <a:prstGeom prst="rect">
            <a:avLst/>
          </a:prstGeom>
          <a:noFill/>
        </p:spPr>
        <p:txBody>
          <a:bodyPr wrap="none" lIns="0" tIns="0">
            <a:spAutoFit/>
          </a:bodyPr>
          <a:lstStyle/>
          <a:p>
            <a:pPr>
              <a:defRPr sz="1300" b="1">
                <a:solidFill>
                  <a:srgbClr val="007E8A"/>
                </a:solidFill>
                <a:latin typeface="Arial"/>
              </a:defRPr>
            </a:pPr>
            <a:r>
              <a:t>Innovation and uniqueness of the solution</a:t>
            </a:r>
          </a:p>
        </p:txBody>
      </p:sp>
      <p:pic>
        <p:nvPicPr>
          <p:cNvPr id="11" name="Picture 10" descr="slide2_innovations.png"/>
          <p:cNvPicPr>
            <a:picLocks noChangeAspect="1"/>
          </p:cNvPicPr>
          <p:nvPr/>
        </p:nvPicPr>
        <p:blipFill>
          <a:blip r:embed="rId5"/>
          <a:stretch>
            <a:fillRect/>
          </a:stretch>
        </p:blipFill>
        <p:spPr>
          <a:xfrm>
            <a:off x="6492240" y="3886200"/>
            <a:ext cx="5303520" cy="2083526"/>
          </a:xfrm>
          <a:prstGeom prst="rect">
            <a:avLst/>
          </a:prstGeom>
        </p:spPr>
      </p:pic>
      <p:sp>
        <p:nvSpPr>
          <p:cNvPr id="12" name="TextBox 11"/>
          <p:cNvSpPr txBox="1"/>
          <p:nvPr/>
        </p:nvSpPr>
        <p:spPr>
          <a:xfrm>
            <a:off x="6492240" y="6172200"/>
            <a:ext cx="4572000" cy="320040"/>
          </a:xfrm>
          <a:prstGeom prst="rect">
            <a:avLst/>
          </a:prstGeom>
          <a:noFill/>
        </p:spPr>
        <p:txBody>
          <a:bodyPr wrap="none" lIns="0" tIns="0">
            <a:spAutoFit/>
          </a:bodyPr>
          <a:lstStyle/>
          <a:p>
            <a:pPr algn="l">
              <a:defRPr sz="950" b="1">
                <a:solidFill>
                  <a:srgbClr val="0284C7"/>
                </a:solidFill>
                <a:latin typeface="Arial"/>
              </a:defRPr>
            </a:pPr>
            <a:r>
              <a:t>Live Production Demo: https://drishti-skilling.vercel.app/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65760" y="182880"/>
            <a:ext cx="1371600" cy="640080"/>
          </a:xfrm>
          <a:prstGeom prst="roundRect">
            <a:avLst/>
          </a:prstGeom>
          <a:solidFill>
            <a:srgbClr val="FFFFFF"/>
          </a:solidFill>
          <a:ln w="254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B365D"/>
                </a:solidFill>
                <a:latin typeface="Arial"/>
              </a:defRPr>
            </a:pPr>
            <a:r>
              <a:t>(DS)</a:t>
            </a:r>
          </a:p>
        </p:txBody>
      </p:sp>
      <p:sp>
        <p:nvSpPr>
          <p:cNvPr id="3" name="TextBox 2"/>
          <p:cNvSpPr txBox="1"/>
          <p:nvPr/>
        </p:nvSpPr>
        <p:spPr>
          <a:xfrm>
            <a:off x="1828800" y="164592"/>
            <a:ext cx="7315200" cy="685800"/>
          </a:xfrm>
          <a:prstGeom prst="rect">
            <a:avLst/>
          </a:prstGeom>
          <a:noFill/>
        </p:spPr>
        <p:txBody>
          <a:bodyPr wrap="none" anchor="ctr">
            <a:spAutoFit/>
          </a:bodyPr>
          <a:lstStyle/>
          <a:p>
            <a:pPr algn="ctr">
              <a:defRPr sz="2800" b="1">
                <a:solidFill>
                  <a:srgbClr val="0F172A"/>
                </a:solidFill>
                <a:latin typeface="Arial"/>
              </a:defRPr>
            </a:pPr>
            <a:r>
              <a:t>Technical Approach</a:t>
            </a:r>
          </a:p>
        </p:txBody>
      </p:sp>
      <p:pic>
        <p:nvPicPr>
          <p:cNvPr id="4" name="Picture 3" descr="slide_1_img_6.png"/>
          <p:cNvPicPr>
            <a:picLocks noChangeAspect="1"/>
          </p:cNvPicPr>
          <p:nvPr/>
        </p:nvPicPr>
        <p:blipFill>
          <a:blip r:embed="rId2"/>
          <a:stretch>
            <a:fillRect/>
          </a:stretch>
        </p:blipFill>
        <p:spPr>
          <a:xfrm>
            <a:off x="9601200" y="137160"/>
            <a:ext cx="2194560" cy="1036201"/>
          </a:xfrm>
          <a:prstGeom prst="rect">
            <a:avLst/>
          </a:prstGeom>
        </p:spPr>
      </p:pic>
      <p:sp>
        <p:nvSpPr>
          <p:cNvPr id="5" name="TextBox 4"/>
          <p:cNvSpPr txBox="1"/>
          <p:nvPr/>
        </p:nvSpPr>
        <p:spPr>
          <a:xfrm>
            <a:off x="11155680" y="6217920"/>
            <a:ext cx="731520" cy="457200"/>
          </a:xfrm>
          <a:prstGeom prst="rect">
            <a:avLst/>
          </a:prstGeom>
          <a:noFill/>
        </p:spPr>
        <p:txBody>
          <a:bodyPr wrap="none">
            <a:spAutoFit/>
          </a:bodyPr>
          <a:lstStyle/>
          <a:p>
            <a:pPr algn="r">
              <a:defRPr sz="2400" b="1">
                <a:solidFill>
                  <a:srgbClr val="007E8A"/>
                </a:solidFill>
                <a:latin typeface="Arial"/>
              </a:defRPr>
            </a:pPr>
            <a:r>
              <a:t>3</a:t>
            </a:r>
          </a:p>
        </p:txBody>
      </p:sp>
      <p:sp>
        <p:nvSpPr>
          <p:cNvPr id="6" name="Rounded Rectangle 5"/>
          <p:cNvSpPr/>
          <p:nvPr/>
        </p:nvSpPr>
        <p:spPr>
          <a:xfrm>
            <a:off x="365760" y="1005840"/>
            <a:ext cx="2743200" cy="10515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b="1" sz="1050">
                <a:solidFill>
                  <a:srgbClr val="10B981"/>
                </a:solidFill>
              </a:defRPr>
            </a:pPr>
            <a:r>
              <a:t>Edge AI &amp; Vision</a:t>
            </a:r>
          </a:p>
          <a:p>
            <a:pPr>
              <a:defRPr sz="850">
                <a:solidFill>
                  <a:srgbClr val="0F172A"/>
                </a:solidFill>
              </a:defRPr>
            </a:pPr>
            <a:r>
              <a:t>• BlazeFace 50 FPS De-ID</a:t>
            </a:r>
          </a:p>
          <a:p>
            <a:pPr>
              <a:defRPr sz="850">
                <a:solidFill>
                  <a:srgbClr val="0F172A"/>
                </a:solidFill>
              </a:defRPr>
            </a:pPr>
            <a:r>
              <a:t>• YOLOv8-Nano Head Count</a:t>
            </a:r>
          </a:p>
          <a:p>
            <a:pPr>
              <a:defRPr sz="850">
                <a:solidFill>
                  <a:srgbClr val="0F172A"/>
                </a:solidFill>
              </a:defRPr>
            </a:pPr>
            <a:r>
              <a:t>• COCO Spatial Asset AI</a:t>
            </a:r>
          </a:p>
        </p:txBody>
      </p:sp>
      <p:sp>
        <p:nvSpPr>
          <p:cNvPr id="7" name="Rounded Rectangle 6"/>
          <p:cNvSpPr/>
          <p:nvPr/>
        </p:nvSpPr>
        <p:spPr>
          <a:xfrm>
            <a:off x="3291840" y="1005840"/>
            <a:ext cx="2743200" cy="1051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b="1" sz="1050">
                <a:solidFill>
                  <a:srgbClr val="0284C7"/>
                </a:solidFill>
              </a:defRPr>
            </a:pPr>
            <a:r>
              <a:t>Backend &amp; API</a:t>
            </a:r>
          </a:p>
          <a:p>
            <a:pPr>
              <a:defRPr sz="850">
                <a:solidFill>
                  <a:srgbClr val="0F172A"/>
                </a:solidFill>
              </a:defRPr>
            </a:pPr>
            <a:r>
              <a:t>• Node.js &amp; Express REST</a:t>
            </a:r>
          </a:p>
          <a:p>
            <a:pPr>
              <a:defRPr sz="850">
                <a:solidFill>
                  <a:srgbClr val="0F172A"/>
                </a:solidFill>
              </a:defRPr>
            </a:pPr>
            <a:r>
              <a:t>• FastAPI / Python Edge</a:t>
            </a:r>
          </a:p>
          <a:p>
            <a:pPr>
              <a:defRPr sz="850">
                <a:solidFill>
                  <a:srgbClr val="0F172A"/>
                </a:solidFill>
              </a:defRPr>
            </a:pPr>
            <a:r>
              <a:t>• MQTT Telemetry Broker</a:t>
            </a:r>
          </a:p>
        </p:txBody>
      </p:sp>
      <p:sp>
        <p:nvSpPr>
          <p:cNvPr id="8" name="Rounded Rectangle 7"/>
          <p:cNvSpPr/>
          <p:nvPr/>
        </p:nvSpPr>
        <p:spPr>
          <a:xfrm>
            <a:off x="365760" y="2194560"/>
            <a:ext cx="2743200" cy="1051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b="1" sz="1050">
                <a:solidFill>
                  <a:srgbClr val="D97706"/>
                </a:solidFill>
              </a:defRPr>
            </a:pPr>
            <a:r>
              <a:t>Frontend &amp; GIS</a:t>
            </a:r>
          </a:p>
          <a:p>
            <a:pPr>
              <a:defRPr sz="850">
                <a:solidFill>
                  <a:srgbClr val="0F172A"/>
                </a:solidFill>
              </a:defRPr>
            </a:pPr>
            <a:r>
              <a:t>• HTML5 &amp; TailwindCSS</a:t>
            </a:r>
          </a:p>
          <a:p>
            <a:pPr>
              <a:defRPr sz="850">
                <a:solidFill>
                  <a:srgbClr val="0F172A"/>
                </a:solidFill>
              </a:defRPr>
            </a:pPr>
            <a:r>
              <a:t>• Leaflet.js GIS Mapping</a:t>
            </a:r>
          </a:p>
          <a:p>
            <a:pPr>
              <a:defRPr sz="850">
                <a:solidFill>
                  <a:srgbClr val="0F172A"/>
                </a:solidFill>
              </a:defRPr>
            </a:pPr>
            <a:r>
              <a:t>• Chart.js Live Telemetry</a:t>
            </a:r>
          </a:p>
        </p:txBody>
      </p:sp>
      <p:sp>
        <p:nvSpPr>
          <p:cNvPr id="9" name="Rounded Rectangle 8"/>
          <p:cNvSpPr/>
          <p:nvPr/>
        </p:nvSpPr>
        <p:spPr>
          <a:xfrm>
            <a:off x="3291840" y="2194560"/>
            <a:ext cx="2743200" cy="1051560"/>
          </a:xfrm>
          <a:prstGeom prst="roundRect">
            <a:avLst/>
          </a:prstGeom>
          <a:solidFill>
            <a:srgbClr val="FFFFFF"/>
          </a:solidFill>
          <a:ln w="19050">
            <a:solidFill>
              <a:srgbClr val="007E8A"/>
            </a:solid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b="1" sz="1050">
                <a:solidFill>
                  <a:srgbClr val="007E8A"/>
                </a:solidFill>
              </a:defRPr>
            </a:pPr>
            <a:r>
              <a:t>Security &amp; DB</a:t>
            </a:r>
          </a:p>
          <a:p>
            <a:pPr>
              <a:defRPr sz="850">
                <a:solidFill>
                  <a:srgbClr val="0F172A"/>
                </a:solidFill>
              </a:defRPr>
            </a:pPr>
            <a:r>
              <a:t>• DPDP Act 2023 RAM Shield</a:t>
            </a:r>
          </a:p>
          <a:p>
            <a:pPr>
              <a:defRPr sz="850">
                <a:solidFill>
                  <a:srgbClr val="0F172A"/>
                </a:solidFill>
              </a:defRPr>
            </a:pPr>
            <a:r>
              <a:t>• Scrypt Auth &amp; Signed JWT</a:t>
            </a:r>
          </a:p>
          <a:p>
            <a:pPr>
              <a:defRPr sz="850">
                <a:solidFill>
                  <a:srgbClr val="0F172A"/>
                </a:solidFill>
              </a:defRPr>
            </a:pPr>
            <a:r>
              <a:t>• SQLite &amp; PostgreSQL</a:t>
            </a:r>
          </a:p>
        </p:txBody>
      </p:sp>
      <p:sp>
        <p:nvSpPr>
          <p:cNvPr id="10" name="Rounded Rectangle 9"/>
          <p:cNvSpPr/>
          <p:nvPr/>
        </p:nvSpPr>
        <p:spPr>
          <a:xfrm>
            <a:off x="365760" y="3383280"/>
            <a:ext cx="5669280" cy="2926080"/>
          </a:xfrm>
          <a:prstGeom prst="roundRect">
            <a:avLst/>
          </a:prstGeom>
          <a:solidFill>
            <a:srgbClr val="FFFFFF"/>
          </a:solidFill>
          <a:ln w="19050">
            <a:solidFill>
              <a:srgbClr val="007E8A"/>
            </a:solidFill>
          </a:ln>
        </p:spPr>
        <p:style>
          <a:lnRef idx="1">
            <a:schemeClr val="accent1"/>
          </a:lnRef>
          <a:fillRef idx="3">
            <a:schemeClr val="accent1"/>
          </a:fillRef>
          <a:effectRef idx="2">
            <a:schemeClr val="accent1"/>
          </a:effectRef>
          <a:fontRef idx="minor">
            <a:schemeClr val="lt1"/>
          </a:fontRef>
        </p:style>
        <p:txBody>
          <a:bodyPr rtlCol="0" anchor="ctr" lIns="228600" tIns="164592"/>
          <a:lstStyle/>
          <a:p>
            <a:pPr algn="ctr">
              <a:defRPr b="1" sz="1300">
                <a:solidFill>
                  <a:srgbClr val="007E8A"/>
                </a:solidFill>
              </a:defRPr>
            </a:pPr>
            <a:r>
              <a:t>Methodology and process for implementation</a:t>
            </a:r>
          </a:p>
          <a:p>
            <a:pPr>
              <a:spcBef>
                <a:spcPts val="500"/>
              </a:spcBef>
              <a:defRPr b="1" sz="1000">
                <a:solidFill>
                  <a:srgbClr val="1B365D"/>
                </a:solidFill>
              </a:defRPr>
            </a:pPr>
            <a:r>
              <a:t>➔ Core Architecture:</a:t>
            </a:r>
          </a:p>
          <a:p>
            <a:pPr>
              <a:defRPr sz="850">
                <a:solidFill>
                  <a:srgbClr val="0F172A"/>
                </a:solidFill>
              </a:defRPr>
            </a:pPr>
            <a:r>
              <a:t>  ● Edge Gateway: RTSP stream capture from existing classroom/lab CCTV.</a:t>
            </a:r>
          </a:p>
          <a:p>
            <a:pPr>
              <a:defRPr sz="850">
                <a:solidFill>
                  <a:srgbClr val="0F172A"/>
                </a:solidFill>
              </a:defRPr>
            </a:pPr>
            <a:r>
              <a:t>  ● Volatile RAM De-ID: BlazeFace hardware downscaled inference (&lt;12ms) with zero raw face storage.</a:t>
            </a:r>
          </a:p>
          <a:p>
            <a:pPr>
              <a:defRPr sz="850">
                <a:solidFill>
                  <a:srgbClr val="0F172A"/>
                </a:solidFill>
              </a:defRPr>
            </a:pPr>
            <a:r>
              <a:t>  ● YOLO Headcount &amp; Asset Check: Temporal 5-minute rolling average to suppress momentary false flags.</a:t>
            </a:r>
          </a:p>
          <a:p>
            <a:pPr>
              <a:spcBef>
                <a:spcPts val="500"/>
              </a:spcBef>
              <a:defRPr b="1" sz="1000">
                <a:solidFill>
                  <a:srgbClr val="1B365D"/>
                </a:solidFill>
              </a:defRPr>
            </a:pPr>
            <a:r>
              <a:t>➔ Integration &amp; Security:</a:t>
            </a:r>
          </a:p>
          <a:p>
            <a:pPr>
              <a:defRPr sz="850">
                <a:solidFill>
                  <a:srgbClr val="0F172A"/>
                </a:solidFill>
              </a:defRPr>
            </a:pPr>
            <a:r>
              <a:t>  ● Encrypted Telemetry: Transmits 2-5 KB JSON packets to cloud via MQTT/HTTPS.</a:t>
            </a:r>
          </a:p>
          <a:p>
            <a:pPr>
              <a:defRPr sz="850">
                <a:solidFill>
                  <a:srgbClr val="0F172A"/>
                </a:solidFill>
              </a:defRPr>
            </a:pPr>
            <a:r>
              <a:t>  ● Automated SIP Reconciliation: Live cross-check against Skill India Portal batch roster.</a:t>
            </a:r>
          </a:p>
          <a:p>
            <a:pPr>
              <a:defRPr sz="850">
                <a:solidFill>
                  <a:srgbClr val="0F172A"/>
                </a:solidFill>
              </a:defRPr>
            </a:pPr>
            <a:r>
              <a:t>  ● Security &amp; Cryptography: Scrypt password hashing, JWT token authorization, and SHA-256 evidence signing.</a:t>
            </a:r>
          </a:p>
        </p:txBody>
      </p:sp>
      <p:pic>
        <p:nvPicPr>
          <p:cNvPr id="11" name="Picture 10" descr="slide3_architecture.png"/>
          <p:cNvPicPr>
            <a:picLocks noChangeAspect="1"/>
          </p:cNvPicPr>
          <p:nvPr/>
        </p:nvPicPr>
        <p:blipFill>
          <a:blip r:embed="rId3"/>
          <a:stretch>
            <a:fillRect/>
          </a:stretch>
        </p:blipFill>
        <p:spPr>
          <a:xfrm>
            <a:off x="6217920" y="1005840"/>
            <a:ext cx="5577840" cy="466607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65760" y="182880"/>
            <a:ext cx="1371600" cy="640080"/>
          </a:xfrm>
          <a:prstGeom prst="roundRect">
            <a:avLst/>
          </a:prstGeom>
          <a:solidFill>
            <a:srgbClr val="FFFFFF"/>
          </a:solidFill>
          <a:ln w="254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B365D"/>
                </a:solidFill>
                <a:latin typeface="Arial"/>
              </a:defRPr>
            </a:pPr>
            <a:r>
              <a:t>(DS)</a:t>
            </a:r>
          </a:p>
        </p:txBody>
      </p:sp>
      <p:sp>
        <p:nvSpPr>
          <p:cNvPr id="3" name="TextBox 2"/>
          <p:cNvSpPr txBox="1"/>
          <p:nvPr/>
        </p:nvSpPr>
        <p:spPr>
          <a:xfrm>
            <a:off x="1828800" y="164592"/>
            <a:ext cx="7315200" cy="685800"/>
          </a:xfrm>
          <a:prstGeom prst="rect">
            <a:avLst/>
          </a:prstGeom>
          <a:noFill/>
        </p:spPr>
        <p:txBody>
          <a:bodyPr wrap="none" anchor="ctr">
            <a:spAutoFit/>
          </a:bodyPr>
          <a:lstStyle/>
          <a:p>
            <a:pPr algn="ctr">
              <a:defRPr sz="2800" b="1">
                <a:solidFill>
                  <a:srgbClr val="0F172A"/>
                </a:solidFill>
                <a:latin typeface="Arial"/>
              </a:defRPr>
            </a:pPr>
            <a:r>
              <a:t>Feasibility &amp; Viability</a:t>
            </a:r>
          </a:p>
        </p:txBody>
      </p:sp>
      <p:pic>
        <p:nvPicPr>
          <p:cNvPr id="4" name="Picture 3" descr="slide_1_img_6.png"/>
          <p:cNvPicPr>
            <a:picLocks noChangeAspect="1"/>
          </p:cNvPicPr>
          <p:nvPr/>
        </p:nvPicPr>
        <p:blipFill>
          <a:blip r:embed="rId2"/>
          <a:stretch>
            <a:fillRect/>
          </a:stretch>
        </p:blipFill>
        <p:spPr>
          <a:xfrm>
            <a:off x="9601200" y="137160"/>
            <a:ext cx="2194560" cy="1036201"/>
          </a:xfrm>
          <a:prstGeom prst="rect">
            <a:avLst/>
          </a:prstGeom>
        </p:spPr>
      </p:pic>
      <p:sp>
        <p:nvSpPr>
          <p:cNvPr id="5" name="TextBox 4"/>
          <p:cNvSpPr txBox="1"/>
          <p:nvPr/>
        </p:nvSpPr>
        <p:spPr>
          <a:xfrm>
            <a:off x="11155680" y="6217920"/>
            <a:ext cx="731520" cy="457200"/>
          </a:xfrm>
          <a:prstGeom prst="rect">
            <a:avLst/>
          </a:prstGeom>
          <a:noFill/>
        </p:spPr>
        <p:txBody>
          <a:bodyPr wrap="none">
            <a:spAutoFit/>
          </a:bodyPr>
          <a:lstStyle/>
          <a:p>
            <a:pPr algn="r">
              <a:defRPr sz="2400" b="1">
                <a:solidFill>
                  <a:srgbClr val="007E8A"/>
                </a:solidFill>
                <a:latin typeface="Arial"/>
              </a:defRPr>
            </a:pPr>
            <a:r>
              <a:t>4</a:t>
            </a:r>
          </a:p>
        </p:txBody>
      </p:sp>
      <p:pic>
        <p:nvPicPr>
          <p:cNvPr id="6" name="Picture 5" descr="slide4_mindmap.png"/>
          <p:cNvPicPr>
            <a:picLocks noChangeAspect="1"/>
          </p:cNvPicPr>
          <p:nvPr/>
        </p:nvPicPr>
        <p:blipFill>
          <a:blip r:embed="rId3"/>
          <a:stretch>
            <a:fillRect/>
          </a:stretch>
        </p:blipFill>
        <p:spPr>
          <a:xfrm>
            <a:off x="457200" y="960120"/>
            <a:ext cx="11247120" cy="2993185"/>
          </a:xfrm>
          <a:prstGeom prst="rect">
            <a:avLst/>
          </a:prstGeom>
        </p:spPr>
      </p:pic>
      <p:sp>
        <p:nvSpPr>
          <p:cNvPr id="7" name="Rounded Rectangle 6"/>
          <p:cNvSpPr/>
          <p:nvPr/>
        </p:nvSpPr>
        <p:spPr>
          <a:xfrm>
            <a:off x="457200" y="4160520"/>
            <a:ext cx="2697480" cy="1874519"/>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b="1" sz="950">
                <a:solidFill>
                  <a:srgbClr val="0284C7"/>
                </a:solidFill>
              </a:defRPr>
            </a:pPr>
            <a:r>
              <a:t>TECHNICAL FEASIBILITY</a:t>
            </a:r>
          </a:p>
          <a:p>
            <a:pPr>
              <a:defRPr sz="819">
                <a:solidFill>
                  <a:srgbClr val="0F172A"/>
                </a:solidFill>
              </a:defRPr>
            </a:pPr>
            <a:r>
              <a:t>• Reuses standard RTSP CCTV / DVRs.</a:t>
            </a:r>
          </a:p>
          <a:p>
            <a:pPr>
              <a:defRPr sz="819">
                <a:solidFill>
                  <a:srgbClr val="0F172A"/>
                </a:solidFill>
              </a:defRPr>
            </a:pPr>
            <a:r>
              <a:t>• INT8 YOLOv8 runs 25+ FPS locally.</a:t>
            </a:r>
          </a:p>
          <a:p>
            <a:pPr>
              <a:defRPr sz="819">
                <a:solidFill>
                  <a:srgbClr val="0F172A"/>
                </a:solidFill>
              </a:defRPr>
            </a:pPr>
            <a:r>
              <a:t>• BlazeFace 50 FPS de-identification.</a:t>
            </a:r>
          </a:p>
          <a:p>
            <a:pPr>
              <a:defRPr sz="819">
                <a:solidFill>
                  <a:srgbClr val="0F172A"/>
                </a:solidFill>
              </a:defRPr>
            </a:pPr>
            <a:r>
              <a:t>• Working MVP deployed on Vercel.</a:t>
            </a:r>
          </a:p>
        </p:txBody>
      </p:sp>
      <p:sp>
        <p:nvSpPr>
          <p:cNvPr id="8" name="Rounded Rectangle 7"/>
          <p:cNvSpPr/>
          <p:nvPr/>
        </p:nvSpPr>
        <p:spPr>
          <a:xfrm>
            <a:off x="3291840" y="4160520"/>
            <a:ext cx="2697480" cy="1874519"/>
          </a:xfrm>
          <a:prstGeom prst="roundRect">
            <a:avLst/>
          </a:prstGeom>
          <a:solidFill>
            <a:srgbClr val="FFFFFF"/>
          </a:solidFill>
          <a:ln w="19050">
            <a:solidFill>
              <a:srgbClr val="007E8A"/>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b="1" sz="950">
                <a:solidFill>
                  <a:srgbClr val="007E8A"/>
                </a:solidFill>
              </a:defRPr>
            </a:pPr>
            <a:r>
              <a:t>MARKET &amp; SCALE FEASIBILITY</a:t>
            </a:r>
          </a:p>
          <a:p>
            <a:pPr>
              <a:defRPr sz="819">
                <a:solidFill>
                  <a:srgbClr val="0F172A"/>
                </a:solidFill>
              </a:defRPr>
            </a:pPr>
            <a:r>
              <a:t>• Applies to 15,000+ national centres.</a:t>
            </a:r>
          </a:p>
          <a:p>
            <a:pPr>
              <a:defRPr sz="819">
                <a:solidFill>
                  <a:srgbClr val="0F172A"/>
                </a:solidFill>
              </a:defRPr>
            </a:pPr>
            <a:r>
              <a:t>• Extensible to ITIs, PMKVY, DGT, polytechnics.</a:t>
            </a:r>
          </a:p>
          <a:p>
            <a:pPr>
              <a:defRPr sz="819">
                <a:solidFill>
                  <a:srgbClr val="0F172A"/>
                </a:solidFill>
              </a:defRPr>
            </a:pPr>
            <a:r>
              <a:t>• Dockerized OTA automated deployment.</a:t>
            </a:r>
          </a:p>
          <a:p>
            <a:pPr>
              <a:defRPr sz="819">
                <a:solidFill>
                  <a:srgbClr val="0F172A"/>
                </a:solidFill>
              </a:defRPr>
            </a:pPr>
            <a:r>
              <a:t>• 10-minute web setup wizard.</a:t>
            </a:r>
          </a:p>
        </p:txBody>
      </p:sp>
      <p:sp>
        <p:nvSpPr>
          <p:cNvPr id="9" name="Rounded Rectangle 8"/>
          <p:cNvSpPr/>
          <p:nvPr/>
        </p:nvSpPr>
        <p:spPr>
          <a:xfrm>
            <a:off x="6126480" y="4160520"/>
            <a:ext cx="2697480" cy="1874519"/>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b="1" sz="950">
                <a:solidFill>
                  <a:srgbClr val="D97706"/>
                </a:solidFill>
              </a:defRPr>
            </a:pPr>
            <a:r>
              <a:t>FINANCIAL FEASIBILITY</a:t>
            </a:r>
          </a:p>
          <a:p>
            <a:pPr>
              <a:defRPr sz="819">
                <a:solidFill>
                  <a:srgbClr val="0F172A"/>
                </a:solidFill>
              </a:defRPr>
            </a:pPr>
            <a:r>
              <a:t>• Low CapEx: ~₹6,500 edge unit per centre.</a:t>
            </a:r>
          </a:p>
          <a:p>
            <a:pPr>
              <a:defRPr sz="819">
                <a:solidFill>
                  <a:srgbClr val="0F172A"/>
                </a:solidFill>
              </a:defRPr>
            </a:pPr>
            <a:r>
              <a:t>• OpEx &lt;₹80/mo (replaces ₹1,800 streaming).</a:t>
            </a:r>
          </a:p>
          <a:p>
            <a:pPr>
              <a:defRPr sz="819">
                <a:solidFill>
                  <a:srgbClr val="0F172A"/>
                </a:solidFill>
              </a:defRPr>
            </a:pPr>
            <a:r>
              <a:t>• Saves ₹100+ Cr in ghost stipend fraud.</a:t>
            </a:r>
          </a:p>
          <a:p>
            <a:pPr>
              <a:defRPr sz="819">
                <a:solidFill>
                  <a:srgbClr val="0F172A"/>
                </a:solidFill>
              </a:defRPr>
            </a:pPr>
            <a:r>
              <a:t>• Cuts physical audit travel by 75%.</a:t>
            </a:r>
          </a:p>
        </p:txBody>
      </p:sp>
      <p:sp>
        <p:nvSpPr>
          <p:cNvPr id="10" name="Rounded Rectangle 9"/>
          <p:cNvSpPr/>
          <p:nvPr/>
        </p:nvSpPr>
        <p:spPr>
          <a:xfrm>
            <a:off x="8961120" y="4160520"/>
            <a:ext cx="2697480" cy="1874519"/>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b="1" sz="950">
                <a:solidFill>
                  <a:srgbClr val="10B981"/>
                </a:solidFill>
              </a:defRPr>
            </a:pPr>
            <a:r>
              <a:t>OPERATIONAL &amp; REGULATORY</a:t>
            </a:r>
          </a:p>
          <a:p>
            <a:pPr>
              <a:defRPr sz="819">
                <a:solidFill>
                  <a:srgbClr val="0F172A"/>
                </a:solidFill>
              </a:defRPr>
            </a:pPr>
            <a:r>
              <a:t>• 100% compliant with DPDP Act 2023.</a:t>
            </a:r>
          </a:p>
          <a:p>
            <a:pPr>
              <a:defRPr sz="819">
                <a:solidFill>
                  <a:srgbClr val="0F172A"/>
                </a:solidFill>
              </a:defRPr>
            </a:pPr>
            <a:r>
              <a:t>• Zero biometric or Aadhaar storage.</a:t>
            </a:r>
          </a:p>
          <a:p>
            <a:pPr>
              <a:defRPr sz="819">
                <a:solidFill>
                  <a:srgbClr val="0F172A"/>
                </a:solidFill>
              </a:defRPr>
            </a:pPr>
            <a:r>
              <a:t>• Ensures rural youth get real trade skills.</a:t>
            </a:r>
          </a:p>
          <a:p>
            <a:pPr>
              <a:defRPr sz="819">
                <a:solidFill>
                  <a:srgbClr val="0F172A"/>
                </a:solidFill>
              </a:defRPr>
            </a:pPr>
            <a:r>
              <a:t>• Accelerates payouts for ethical partners.</a:t>
            </a:r>
          </a:p>
        </p:txBody>
      </p:sp>
      <p:sp>
        <p:nvSpPr>
          <p:cNvPr id="11" name="TextBox 10"/>
          <p:cNvSpPr txBox="1"/>
          <p:nvPr/>
        </p:nvSpPr>
        <p:spPr>
          <a:xfrm>
            <a:off x="2743200" y="6172200"/>
            <a:ext cx="6675120" cy="320040"/>
          </a:xfrm>
          <a:prstGeom prst="rect">
            <a:avLst/>
          </a:prstGeom>
          <a:noFill/>
        </p:spPr>
        <p:txBody>
          <a:bodyPr wrap="none">
            <a:spAutoFit/>
          </a:bodyPr>
          <a:lstStyle/>
          <a:p>
            <a:pPr algn="ctr">
              <a:defRPr b="1" sz="950">
                <a:solidFill>
                  <a:srgbClr val="0284C7"/>
                </a:solidFill>
              </a:defRPr>
            </a:pPr>
            <a:r>
              <a:t>Interactive System Prototype: https://drishti-skilling.vercel.app/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65760" y="182880"/>
            <a:ext cx="1371600" cy="640080"/>
          </a:xfrm>
          <a:prstGeom prst="roundRect">
            <a:avLst/>
          </a:prstGeom>
          <a:solidFill>
            <a:srgbClr val="FFFFFF"/>
          </a:solidFill>
          <a:ln w="254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B365D"/>
                </a:solidFill>
                <a:latin typeface="Arial"/>
              </a:defRPr>
            </a:pPr>
            <a:r>
              <a:t>(DS)</a:t>
            </a:r>
          </a:p>
        </p:txBody>
      </p:sp>
      <p:sp>
        <p:nvSpPr>
          <p:cNvPr id="3" name="TextBox 2"/>
          <p:cNvSpPr txBox="1"/>
          <p:nvPr/>
        </p:nvSpPr>
        <p:spPr>
          <a:xfrm>
            <a:off x="1828800" y="164592"/>
            <a:ext cx="7315200" cy="685800"/>
          </a:xfrm>
          <a:prstGeom prst="rect">
            <a:avLst/>
          </a:prstGeom>
          <a:noFill/>
        </p:spPr>
        <p:txBody>
          <a:bodyPr wrap="none" anchor="ctr">
            <a:spAutoFit/>
          </a:bodyPr>
          <a:lstStyle/>
          <a:p>
            <a:pPr algn="ctr">
              <a:defRPr sz="2800" b="1">
                <a:solidFill>
                  <a:srgbClr val="0F172A"/>
                </a:solidFill>
                <a:latin typeface="Arial"/>
              </a:defRPr>
            </a:pPr>
            <a:r>
              <a:t>Impact and Benefits</a:t>
            </a:r>
          </a:p>
        </p:txBody>
      </p:sp>
      <p:pic>
        <p:nvPicPr>
          <p:cNvPr id="4" name="Picture 3" descr="slide_1_img_6.png"/>
          <p:cNvPicPr>
            <a:picLocks noChangeAspect="1"/>
          </p:cNvPicPr>
          <p:nvPr/>
        </p:nvPicPr>
        <p:blipFill>
          <a:blip r:embed="rId2"/>
          <a:stretch>
            <a:fillRect/>
          </a:stretch>
        </p:blipFill>
        <p:spPr>
          <a:xfrm>
            <a:off x="9601200" y="137160"/>
            <a:ext cx="2194560" cy="1036201"/>
          </a:xfrm>
          <a:prstGeom prst="rect">
            <a:avLst/>
          </a:prstGeom>
        </p:spPr>
      </p:pic>
      <p:sp>
        <p:nvSpPr>
          <p:cNvPr id="5" name="TextBox 4"/>
          <p:cNvSpPr txBox="1"/>
          <p:nvPr/>
        </p:nvSpPr>
        <p:spPr>
          <a:xfrm>
            <a:off x="11155680" y="6217920"/>
            <a:ext cx="731520" cy="457200"/>
          </a:xfrm>
          <a:prstGeom prst="rect">
            <a:avLst/>
          </a:prstGeom>
          <a:noFill/>
        </p:spPr>
        <p:txBody>
          <a:bodyPr wrap="none">
            <a:spAutoFit/>
          </a:bodyPr>
          <a:lstStyle/>
          <a:p>
            <a:pPr algn="r">
              <a:defRPr sz="2400" b="1">
                <a:solidFill>
                  <a:srgbClr val="007E8A"/>
                </a:solidFill>
                <a:latin typeface="Arial"/>
              </a:defRPr>
            </a:pPr>
            <a:r>
              <a:t>5</a:t>
            </a:r>
          </a:p>
        </p:txBody>
      </p:sp>
      <p:sp>
        <p:nvSpPr>
          <p:cNvPr id="6" name="TextBox 5"/>
          <p:cNvSpPr txBox="1"/>
          <p:nvPr/>
        </p:nvSpPr>
        <p:spPr>
          <a:xfrm>
            <a:off x="457200" y="960120"/>
            <a:ext cx="5303520" cy="411480"/>
          </a:xfrm>
          <a:prstGeom prst="rect">
            <a:avLst/>
          </a:prstGeom>
          <a:noFill/>
        </p:spPr>
        <p:txBody>
          <a:bodyPr wrap="none">
            <a:spAutoFit/>
          </a:bodyPr>
          <a:lstStyle/>
          <a:p>
            <a:pPr>
              <a:defRPr b="1" sz="1400">
                <a:solidFill>
                  <a:srgbClr val="007E8A"/>
                </a:solidFill>
              </a:defRPr>
            </a:pPr>
            <a:r>
              <a:t>🌍 Potential Impact &amp; Benefits of Solution</a:t>
            </a:r>
          </a:p>
        </p:txBody>
      </p:sp>
      <p:sp>
        <p:nvSpPr>
          <p:cNvPr id="7" name="Oval 6"/>
          <p:cNvSpPr/>
          <p:nvPr/>
        </p:nvSpPr>
        <p:spPr>
          <a:xfrm>
            <a:off x="457200" y="1490472"/>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01</a:t>
            </a:r>
          </a:p>
        </p:txBody>
      </p:sp>
      <p:sp>
        <p:nvSpPr>
          <p:cNvPr id="8" name="Rounded Rectangle 7"/>
          <p:cNvSpPr/>
          <p:nvPr/>
        </p:nvSpPr>
        <p:spPr>
          <a:xfrm>
            <a:off x="1097280" y="1417320"/>
            <a:ext cx="4572000" cy="6583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b="1" sz="1000">
                <a:solidFill>
                  <a:srgbClr val="1B365D"/>
                </a:solidFill>
              </a:defRPr>
            </a:pPr>
            <a:r>
              <a:t>Plugs Ghost Trainee Leakages</a:t>
            </a:r>
          </a:p>
          <a:p>
            <a:pPr>
              <a:defRPr sz="800">
                <a:solidFill>
                  <a:srgbClr val="475569"/>
                </a:solidFill>
              </a:defRPr>
            </a:pPr>
            <a:r>
              <a:t>Stops ₹100+ Crores in fraudulent stipend claims; halts illegal payouts automatically.</a:t>
            </a:r>
          </a:p>
        </p:txBody>
      </p:sp>
      <p:sp>
        <p:nvSpPr>
          <p:cNvPr id="9" name="Oval 8"/>
          <p:cNvSpPr/>
          <p:nvPr/>
        </p:nvSpPr>
        <p:spPr>
          <a:xfrm>
            <a:off x="457200" y="2267712"/>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02</a:t>
            </a:r>
          </a:p>
        </p:txBody>
      </p:sp>
      <p:sp>
        <p:nvSpPr>
          <p:cNvPr id="10" name="Rounded Rectangle 9"/>
          <p:cNvSpPr/>
          <p:nvPr/>
        </p:nvSpPr>
        <p:spPr>
          <a:xfrm>
            <a:off x="1097280" y="2194560"/>
            <a:ext cx="4572000" cy="6583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b="1" sz="1000">
                <a:solidFill>
                  <a:srgbClr val="1B365D"/>
                </a:solidFill>
              </a:defRPr>
            </a:pPr>
            <a:r>
              <a:t>Guarantees Real Youth Skills</a:t>
            </a:r>
          </a:p>
          <a:p>
            <a:pPr>
              <a:defRPr sz="800">
                <a:solidFill>
                  <a:srgbClr val="475569"/>
                </a:solidFill>
              </a:defRPr>
            </a:pPr>
            <a:r>
              <a:t>Enforces mandatory physical trainer presence &amp; hands-on equipment practice for trainees.</a:t>
            </a:r>
          </a:p>
        </p:txBody>
      </p:sp>
      <p:sp>
        <p:nvSpPr>
          <p:cNvPr id="11" name="Oval 10"/>
          <p:cNvSpPr/>
          <p:nvPr/>
        </p:nvSpPr>
        <p:spPr>
          <a:xfrm>
            <a:off x="457200" y="3044952"/>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03</a:t>
            </a:r>
          </a:p>
        </p:txBody>
      </p:sp>
      <p:sp>
        <p:nvSpPr>
          <p:cNvPr id="12" name="Rounded Rectangle 11"/>
          <p:cNvSpPr/>
          <p:nvPr/>
        </p:nvSpPr>
        <p:spPr>
          <a:xfrm>
            <a:off x="1097280" y="2971800"/>
            <a:ext cx="4572000" cy="6583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b="1" sz="1000">
                <a:solidFill>
                  <a:srgbClr val="1B365D"/>
                </a:solidFill>
              </a:defRPr>
            </a:pPr>
            <a:r>
              <a:t>99.4% Rural Bandwidth Reduction</a:t>
            </a:r>
          </a:p>
          <a:p>
            <a:pPr>
              <a:defRPr sz="800">
                <a:solidFill>
                  <a:srgbClr val="475569"/>
                </a:solidFill>
              </a:defRPr>
            </a:pPr>
            <a:r>
              <a:t>Operates smoothly on 2G/3G links with 2-5 KB JSON metrics; saves millions in streaming bills.</a:t>
            </a:r>
          </a:p>
        </p:txBody>
      </p:sp>
      <p:sp>
        <p:nvSpPr>
          <p:cNvPr id="13" name="Oval 12"/>
          <p:cNvSpPr/>
          <p:nvPr/>
        </p:nvSpPr>
        <p:spPr>
          <a:xfrm>
            <a:off x="457200" y="3822191"/>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04</a:t>
            </a:r>
          </a:p>
        </p:txBody>
      </p:sp>
      <p:sp>
        <p:nvSpPr>
          <p:cNvPr id="14" name="Rounded Rectangle 13"/>
          <p:cNvSpPr/>
          <p:nvPr/>
        </p:nvSpPr>
        <p:spPr>
          <a:xfrm>
            <a:off x="1097280" y="3749039"/>
            <a:ext cx="4572000" cy="6583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b="1" sz="1000">
                <a:solidFill>
                  <a:srgbClr val="1B365D"/>
                </a:solidFill>
              </a:defRPr>
            </a:pPr>
            <a:r>
              <a:t>100% DPDP Act 2023 Compliance</a:t>
            </a:r>
          </a:p>
          <a:p>
            <a:pPr>
              <a:defRPr sz="800">
                <a:solidFill>
                  <a:srgbClr val="475569"/>
                </a:solidFill>
              </a:defRPr>
            </a:pPr>
            <a:r>
              <a:t>Volatile RAM face-blurring guarantees zero citizen facial biometrics stored or leaked.</a:t>
            </a:r>
          </a:p>
        </p:txBody>
      </p:sp>
      <p:sp>
        <p:nvSpPr>
          <p:cNvPr id="15" name="Oval 14"/>
          <p:cNvSpPr/>
          <p:nvPr/>
        </p:nvSpPr>
        <p:spPr>
          <a:xfrm>
            <a:off x="457200" y="4599432"/>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05</a:t>
            </a:r>
          </a:p>
        </p:txBody>
      </p:sp>
      <p:sp>
        <p:nvSpPr>
          <p:cNvPr id="16" name="Rounded Rectangle 15"/>
          <p:cNvSpPr/>
          <p:nvPr/>
        </p:nvSpPr>
        <p:spPr>
          <a:xfrm>
            <a:off x="1097280" y="4526280"/>
            <a:ext cx="4572000" cy="6583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b="1" sz="1000">
                <a:solidFill>
                  <a:srgbClr val="1B365D"/>
                </a:solidFill>
              </a:defRPr>
            </a:pPr>
            <a:r>
              <a:t>75% Audit Travel Cost Reduction</a:t>
            </a:r>
          </a:p>
          <a:p>
            <a:pPr>
              <a:defRPr sz="800">
                <a:solidFill>
                  <a:srgbClr val="475569"/>
                </a:solidFill>
              </a:defRPr>
            </a:pPr>
            <a:r>
              <a:t>Objective risk triage directs flying squads only to red-flagged hotspot centres.</a:t>
            </a:r>
          </a:p>
        </p:txBody>
      </p:sp>
      <p:sp>
        <p:nvSpPr>
          <p:cNvPr id="17" name="Oval 16"/>
          <p:cNvSpPr/>
          <p:nvPr/>
        </p:nvSpPr>
        <p:spPr>
          <a:xfrm>
            <a:off x="457200" y="5376672"/>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06</a:t>
            </a:r>
          </a:p>
        </p:txBody>
      </p:sp>
      <p:sp>
        <p:nvSpPr>
          <p:cNvPr id="18" name="Rounded Rectangle 17"/>
          <p:cNvSpPr/>
          <p:nvPr/>
        </p:nvSpPr>
        <p:spPr>
          <a:xfrm>
            <a:off x="1097280" y="5303520"/>
            <a:ext cx="4572000" cy="6583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b="1" sz="1000">
                <a:solidFill>
                  <a:srgbClr val="1B365D"/>
                </a:solidFill>
              </a:defRPr>
            </a:pPr>
            <a:r>
              <a:t>Faster Payouts for Ethical Centres</a:t>
            </a:r>
          </a:p>
          <a:p>
            <a:pPr>
              <a:defRPr sz="800">
                <a:solidFill>
                  <a:srgbClr val="475569"/>
                </a:solidFill>
              </a:defRPr>
            </a:pPr>
            <a:r>
              <a:t>Automated compliance index clears verified training centres for rapid subsidy disbursement.</a:t>
            </a:r>
          </a:p>
        </p:txBody>
      </p:sp>
      <p:sp>
        <p:nvSpPr>
          <p:cNvPr id="19" name="TextBox 18"/>
          <p:cNvSpPr txBox="1"/>
          <p:nvPr/>
        </p:nvSpPr>
        <p:spPr>
          <a:xfrm>
            <a:off x="6217920" y="960120"/>
            <a:ext cx="4114800" cy="411480"/>
          </a:xfrm>
          <a:prstGeom prst="rect">
            <a:avLst/>
          </a:prstGeom>
          <a:noFill/>
        </p:spPr>
        <p:txBody>
          <a:bodyPr wrap="none" lIns="0" tIns="0">
            <a:spAutoFit/>
          </a:bodyPr>
          <a:lstStyle/>
          <a:p>
            <a:pPr>
              <a:defRPr b="1" sz="1350">
                <a:solidFill>
                  <a:srgbClr val="007E8A"/>
                </a:solidFill>
              </a:defRPr>
            </a:pPr>
            <a:r>
              <a:t>💡 Roadmap &amp; Future Goals (Deployment Sprints)</a:t>
            </a:r>
          </a:p>
        </p:txBody>
      </p:sp>
      <p:pic>
        <p:nvPicPr>
          <p:cNvPr id="20" name="Picture 19" descr="slide5_roadmap.png"/>
          <p:cNvPicPr>
            <a:picLocks noChangeAspect="1"/>
          </p:cNvPicPr>
          <p:nvPr/>
        </p:nvPicPr>
        <p:blipFill>
          <a:blip r:embed="rId3"/>
          <a:stretch>
            <a:fillRect/>
          </a:stretch>
        </p:blipFill>
        <p:spPr>
          <a:xfrm>
            <a:off x="6217920" y="1371600"/>
            <a:ext cx="5303520" cy="326782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65760" y="182880"/>
            <a:ext cx="1371600" cy="640080"/>
          </a:xfrm>
          <a:prstGeom prst="roundRect">
            <a:avLst/>
          </a:prstGeom>
          <a:solidFill>
            <a:srgbClr val="FFFFFF"/>
          </a:solidFill>
          <a:ln w="254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B365D"/>
                </a:solidFill>
                <a:latin typeface="Arial"/>
              </a:defRPr>
            </a:pPr>
            <a:r>
              <a:t>(DS)</a:t>
            </a:r>
          </a:p>
        </p:txBody>
      </p:sp>
      <p:sp>
        <p:nvSpPr>
          <p:cNvPr id="3" name="TextBox 2"/>
          <p:cNvSpPr txBox="1"/>
          <p:nvPr/>
        </p:nvSpPr>
        <p:spPr>
          <a:xfrm>
            <a:off x="1828800" y="164592"/>
            <a:ext cx="7315200" cy="685800"/>
          </a:xfrm>
          <a:prstGeom prst="rect">
            <a:avLst/>
          </a:prstGeom>
          <a:noFill/>
        </p:spPr>
        <p:txBody>
          <a:bodyPr wrap="none" anchor="ctr">
            <a:spAutoFit/>
          </a:bodyPr>
          <a:lstStyle/>
          <a:p>
            <a:pPr algn="ctr">
              <a:defRPr sz="2800" b="1">
                <a:solidFill>
                  <a:srgbClr val="0F172A"/>
                </a:solidFill>
                <a:latin typeface="Arial"/>
              </a:defRPr>
            </a:pPr>
            <a:r>
              <a:t>Research and References</a:t>
            </a:r>
          </a:p>
        </p:txBody>
      </p:sp>
      <p:pic>
        <p:nvPicPr>
          <p:cNvPr id="4" name="Picture 3" descr="slide_1_img_6.png"/>
          <p:cNvPicPr>
            <a:picLocks noChangeAspect="1"/>
          </p:cNvPicPr>
          <p:nvPr/>
        </p:nvPicPr>
        <p:blipFill>
          <a:blip r:embed="rId2"/>
          <a:stretch>
            <a:fillRect/>
          </a:stretch>
        </p:blipFill>
        <p:spPr>
          <a:xfrm>
            <a:off x="9601200" y="137160"/>
            <a:ext cx="2194560" cy="1036201"/>
          </a:xfrm>
          <a:prstGeom prst="rect">
            <a:avLst/>
          </a:prstGeom>
        </p:spPr>
      </p:pic>
      <p:sp>
        <p:nvSpPr>
          <p:cNvPr id="5" name="TextBox 4"/>
          <p:cNvSpPr txBox="1"/>
          <p:nvPr/>
        </p:nvSpPr>
        <p:spPr>
          <a:xfrm>
            <a:off x="11155680" y="6217920"/>
            <a:ext cx="731520" cy="457200"/>
          </a:xfrm>
          <a:prstGeom prst="rect">
            <a:avLst/>
          </a:prstGeom>
          <a:noFill/>
        </p:spPr>
        <p:txBody>
          <a:bodyPr wrap="none">
            <a:spAutoFit/>
          </a:bodyPr>
          <a:lstStyle/>
          <a:p>
            <a:pPr algn="r">
              <a:defRPr sz="2400" b="1">
                <a:solidFill>
                  <a:srgbClr val="007E8A"/>
                </a:solidFill>
                <a:latin typeface="Arial"/>
              </a:defRPr>
            </a:pPr>
            <a:r>
              <a:t>6</a:t>
            </a:r>
          </a:p>
        </p:txBody>
      </p:sp>
      <p:sp>
        <p:nvSpPr>
          <p:cNvPr id="6" name="Rounded Rectangle 5"/>
          <p:cNvSpPr/>
          <p:nvPr/>
        </p:nvSpPr>
        <p:spPr>
          <a:xfrm>
            <a:off x="457200" y="1005840"/>
            <a:ext cx="11247120" cy="5303520"/>
          </a:xfrm>
          <a:prstGeom prst="roundRect">
            <a:avLst/>
          </a:prstGeom>
          <a:solidFill>
            <a:srgbClr val="FFFFFF"/>
          </a:solidFill>
          <a:ln w="19050">
            <a:solidFill>
              <a:srgbClr val="007E8A"/>
            </a:solidFill>
          </a:ln>
        </p:spPr>
        <p:style>
          <a:lnRef idx="1">
            <a:schemeClr val="accent1"/>
          </a:lnRef>
          <a:fillRef idx="3">
            <a:schemeClr val="accent1"/>
          </a:fillRef>
          <a:effectRef idx="2">
            <a:schemeClr val="accent1"/>
          </a:effectRef>
          <a:fontRef idx="minor">
            <a:schemeClr val="lt1"/>
          </a:fontRef>
        </p:style>
        <p:txBody>
          <a:bodyPr rtlCol="0" anchor="ctr" lIns="320040" tIns="228600"/>
          <a:lstStyle/>
          <a:p>
            <a:pPr algn="ctr">
              <a:defRPr b="1" sz="1500">
                <a:solidFill>
                  <a:srgbClr val="007E8A"/>
                </a:solidFill>
              </a:defRPr>
            </a:pPr>
            <a:r>
              <a:t>Details / Links of the reference and research work</a:t>
            </a:r>
          </a:p>
          <a:p>
            <a:pPr>
              <a:spcBef>
                <a:spcPts val="1000"/>
              </a:spcBef>
            </a:pPr>
            <a:r>
              <a:rPr sz="1050" b="1">
                <a:solidFill>
                  <a:srgbClr val="1B365D"/>
                </a:solidFill>
                <a:latin typeface="Arial"/>
              </a:rPr>
              <a:t>1. Comptroller and Auditor General of India (CAG): </a:t>
            </a:r>
            <a:r>
              <a:rPr sz="1000">
                <a:solidFill>
                  <a:srgbClr val="0F172A"/>
                </a:solidFill>
                <a:latin typeface="Arial"/>
              </a:rPr>
              <a:t>Performance Audit on National Skill Development Mission (Report No. 10 of 2018), documenting 25-35% variance between reported trainee rosters and physical classroom occupancy in unmonitored centres.</a:t>
            </a:r>
          </a:p>
          <a:p>
            <a:pPr>
              <a:spcBef>
                <a:spcPts val="1000"/>
              </a:spcBef>
            </a:pPr>
            <a:r>
              <a:rPr sz="1050" b="1">
                <a:solidFill>
                  <a:srgbClr val="1B365D"/>
                </a:solidFill>
                <a:latin typeface="Arial"/>
              </a:rPr>
              <a:t>2. Ministry of Skill Development and Entrepreneurship (MSDE): </a:t>
            </a:r>
            <a:r>
              <a:rPr sz="1000">
                <a:solidFill>
                  <a:srgbClr val="0F172A"/>
                </a:solidFill>
                <a:latin typeface="Arial"/>
              </a:rPr>
              <a:t>Guidelines for Empanelment &amp; Continuous Monitoring of Training Centres (PMKVY 4.0 / DGT Norms), specifying mandatory trainer-trainee ratios, equipment checklists, and biometric audit requirements.</a:t>
            </a:r>
          </a:p>
          <a:p>
            <a:pPr>
              <a:spcBef>
                <a:spcPts val="1000"/>
              </a:spcBef>
            </a:pPr>
            <a:r>
              <a:rPr sz="1050" b="1">
                <a:solidFill>
                  <a:srgbClr val="1B365D"/>
                </a:solidFill>
                <a:latin typeface="Arial"/>
              </a:rPr>
              <a:t>3. Digital Personal Data Protection Act, 2023 (DPDP Act): </a:t>
            </a:r>
            <a:r>
              <a:rPr sz="1000">
                <a:solidFill>
                  <a:srgbClr val="0F172A"/>
                </a:solidFill>
                <a:latin typeface="Arial"/>
              </a:rPr>
              <a:t>Act No. 22 of 2023, Gazette of India, Section 6 &amp; 8 (Data Minimization &amp; Purpose Limitation Principles), mandating edge-level de-identification and prohibiting continuous storage of raw facial biometrics.</a:t>
            </a:r>
          </a:p>
          <a:p>
            <a:pPr>
              <a:spcBef>
                <a:spcPts val="1000"/>
              </a:spcBef>
            </a:pPr>
            <a:r>
              <a:rPr sz="1050" b="1">
                <a:solidFill>
                  <a:srgbClr val="1B365D"/>
                </a:solidFill>
                <a:latin typeface="Arial"/>
              </a:rPr>
              <a:t>4. Ultralytics &amp; Google Research (Edge Vision Benchmarks): </a:t>
            </a:r>
            <a:r>
              <a:rPr sz="1000">
                <a:solidFill>
                  <a:srgbClr val="0F172A"/>
                </a:solidFill>
                <a:latin typeface="Arial"/>
              </a:rPr>
              <a:t>YOLOv8-Nano and BlazeFace Real-Time Performance on Resource-Constrained Embedded Devices (Edge TPUs and Intel N100 Mini-PCs), demonstrating 25-50 FPS throughput at sub-15W power envelope.</a:t>
            </a:r>
          </a:p>
          <a:p>
            <a:pPr>
              <a:spcBef>
                <a:spcPts val="1000"/>
              </a:spcBef>
            </a:pPr>
            <a:r>
              <a:rPr sz="1050" b="1">
                <a:solidFill>
                  <a:srgbClr val="1B365D"/>
                </a:solidFill>
                <a:latin typeface="Arial"/>
              </a:rPr>
              <a:t>5. Ministry of Electronics and Information Technology (MeitY): </a:t>
            </a:r>
            <a:r>
              <a:rPr sz="1000">
                <a:solidFill>
                  <a:srgbClr val="0F172A"/>
                </a:solidFill>
                <a:latin typeface="Arial"/>
              </a:rPr>
              <a:t>IoT &amp; Edge AI Architectural Guidelines for Public Sector Service Delivery, emphasizing local compute, store-and-forward telemetry, and cryptographic verification of audit records.</a:t>
            </a:r>
          </a:p>
          <a:p>
            <a:pPr>
              <a:spcBef>
                <a:spcPts val="1000"/>
              </a:spcBef>
            </a:pPr>
            <a:r>
              <a:rPr sz="1050" b="1">
                <a:solidFill>
                  <a:srgbClr val="1B365D"/>
                </a:solidFill>
                <a:latin typeface="Arial"/>
              </a:rPr>
              <a:t>6. National Skill Development Corporation (NSDC): </a:t>
            </a:r>
            <a:r>
              <a:rPr sz="1000">
                <a:solidFill>
                  <a:srgbClr val="0F172A"/>
                </a:solidFill>
                <a:latin typeface="Arial"/>
              </a:rPr>
              <a:t>Standard Operating Procedures for Skill India Digital Hub (SIDH) Batch Accreditation &amp; Verification, detailing API interfaces for third-party automated discrepancy reporting.</a:t>
            </a:r>
          </a:p>
          <a:p>
            <a:pPr>
              <a:spcBef>
                <a:spcPts val="1000"/>
              </a:spcBef>
            </a:pPr>
            <a:r>
              <a:rPr sz="1050" b="1">
                <a:solidFill>
                  <a:srgbClr val="1B365D"/>
                </a:solidFill>
                <a:latin typeface="Arial"/>
              </a:rPr>
              <a:t>7. Drishti-Skilling Production Platform &amp; Verifiable Codebase: </a:t>
            </a:r>
            <a:r>
              <a:rPr sz="1000">
                <a:solidFill>
                  <a:srgbClr val="0F172A"/>
                </a:solidFill>
                <a:latin typeface="Arial"/>
              </a:rPr>
              <a:t>Live Web Platform: https://drishti-skilling.vercel.app/ | Architecture &amp; Audit Test Suite: https://github.com/aetherpixels/drishti-skilling (17/17 Security &amp; RBAC automated audit tests passing).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
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00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B365D"/>
                </a:solidFill>
                <a:latin typeface="Arial"/>
              </a:defRPr>
            </a:pPr>
            <a:r>
              <a:t>Smart India Hackathon 2024</a:t>
            </a:r>
          </a:p>
        </p:txBody>
      </p:sp>
      <p:pic>
        <p:nvPicPr>
          <p:cNvPr id="3" name="Picture 2" descr="slide_1_img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182880"/>
            <a:ext cx="2468880" cy="11657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37160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sz="2000" b="1">
                <a:solidFill>
                  <a:srgbClr val="0F172A"/>
                </a:solidFill>
                <a:latin typeface="Arial"/>
              </a:rPr>
              <a:t>• Problem Statement ID:</a:t>
            </a:r>
            <a:r>
              <a:rPr sz="2000" b="1">
                <a:solidFill>
                  <a:srgbClr val="007E8A"/>
                </a:solidFill>
                <a:latin typeface="Arial"/>
              </a:rPr>
              <a:t> SIH1591 / PS26245</a:t>
            </a:r>
          </a:p>
          <a:p>
            <a:pPr>
              <a:spcBef>
                <a:spcPts val="1800"/>
              </a:spcBef>
            </a:pPr>
            <a:r>
              <a:rPr sz="2000" b="1">
                <a:solidFill>
                  <a:srgbClr val="0F172A"/>
                </a:solidFill>
                <a:latin typeface="Arial"/>
              </a:rPr>
              <a:t>• PS Title:</a:t>
            </a:r>
            <a:r>
              <a:rPr sz="2000" b="1">
                <a:solidFill>
                  <a:srgbClr val="007E8A"/>
                </a:solidFill>
                <a:latin typeface="Arial"/>
              </a:rPr>
              <a:t> AI-Powered Edge Video Analytics &amp; Governance</a:t>
            </a:r>
          </a:p>
          <a:p>
            <a:pPr>
              <a:spcBef>
                <a:spcPts val="1800"/>
              </a:spcBef>
            </a:pPr>
            <a:r>
              <a:rPr sz="2000" b="1">
                <a:solidFill>
                  <a:srgbClr val="0F172A"/>
                </a:solidFill>
                <a:latin typeface="Arial"/>
              </a:rPr>
              <a:t>• Theme:</a:t>
            </a:r>
            <a:r>
              <a:rPr sz="2000" b="1">
                <a:solidFill>
                  <a:srgbClr val="007E8A"/>
                </a:solidFill>
                <a:latin typeface="Arial"/>
              </a:rPr>
              <a:t> Smart Automation / Governance &amp; Skilling</a:t>
            </a:r>
          </a:p>
          <a:p>
            <a:pPr>
              <a:spcBef>
                <a:spcPts val="1800"/>
              </a:spcBef>
            </a:pPr>
            <a:r>
              <a:rPr sz="2000" b="1">
                <a:solidFill>
                  <a:srgbClr val="0F172A"/>
                </a:solidFill>
                <a:latin typeface="Arial"/>
              </a:rPr>
              <a:t>• PS Category:</a:t>
            </a:r>
            <a:r>
              <a:rPr sz="2000" b="1">
                <a:solidFill>
                  <a:srgbClr val="007E8A"/>
                </a:solidFill>
                <a:latin typeface="Arial"/>
              </a:rPr>
              <a:t> Software</a:t>
            </a:r>
          </a:p>
          <a:p>
            <a:pPr>
              <a:spcBef>
                <a:spcPts val="1800"/>
              </a:spcBef>
            </a:pPr>
            <a:r>
              <a:rPr sz="2000" b="1">
                <a:solidFill>
                  <a:srgbClr val="0F172A"/>
                </a:solidFill>
                <a:latin typeface="Arial"/>
              </a:rPr>
              <a:t>• Team ID:</a:t>
            </a:r>
            <a:r>
              <a:rPr sz="2000" b="1">
                <a:solidFill>
                  <a:srgbClr val="007E8A"/>
                </a:solidFill>
                <a:latin typeface="Arial"/>
              </a:rPr>
              <a:t> [Team ID]</a:t>
            </a:r>
          </a:p>
          <a:p>
            <a:pPr>
              <a:spcBef>
                <a:spcPts val="1800"/>
              </a:spcBef>
            </a:pPr>
            <a:r>
              <a:rPr sz="2000" b="1">
                <a:solidFill>
                  <a:srgbClr val="0F172A"/>
                </a:solidFill>
                <a:latin typeface="Arial"/>
              </a:rPr>
              <a:t>• Team Name:</a:t>
            </a:r>
            <a:r>
              <a:rPr sz="2000" b="1">
                <a:solidFill>
                  <a:srgbClr val="007E8A"/>
                </a:solidFill>
                <a:latin typeface="Arial"/>
              </a:rPr>
              <a:t> Drishti Innovators / HackSolvers</a:t>
            </a:r>
          </a:p>
        </p:txBody>
      </p:sp>
      <p:pic>
        <p:nvPicPr>
          <p:cNvPr id="5" name="Picture 4" descr="sih_bulb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188720"/>
            <a:ext cx="3017520" cy="32348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484632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284C7"/>
                </a:solidFill>
                <a:latin typeface="Arial"/>
              </a:defRPr>
            </a:pPr>
            <a:r>
              <a:t>Drishti-Skilling</a:t>
            </a:r>
          </a:p>
          <a:p>
            <a:pPr algn="ctr">
              <a:defRPr sz="1300">
                <a:solidFill>
                  <a:srgbClr val="475569"/>
                </a:solidFill>
                <a:latin typeface="Arial"/>
              </a:defRPr>
            </a:pPr>
            <a:r>
              <a:t>~ Privacy-Preserving Edge AI Governance for Vocational Centres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64592"/>
            <a:ext cx="1188720" cy="65836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B365D"/>
                </a:solidFill>
                <a:latin typeface="Arial"/>
              </a:defRPr>
            </a:pPr>
            <a:r>
              <a:t>(DS)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91440"/>
            <a:ext cx="77724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 b="1">
                <a:solidFill>
                  <a:srgbClr val="1B365D"/>
                </a:solidFill>
                <a:latin typeface="Georgia"/>
              </a:defRPr>
            </a:pPr>
            <a:r>
              <a:t>DRISHTI-SKILLING</a:t>
            </a:r>
          </a:p>
          <a:p>
            <a:pPr algn="ctr">
              <a:defRPr sz="1100" i="1">
                <a:solidFill>
                  <a:srgbClr val="475569"/>
                </a:solidFill>
                <a:latin typeface="Georgia"/>
              </a:defRPr>
            </a:pPr>
            <a:r>
              <a:t>Privacy-Preserving Edge AI Governance for Vocational Centres</a:t>
            </a:r>
          </a:p>
        </p:txBody>
      </p:sp>
      <p:pic>
        <p:nvPicPr>
          <p:cNvPr id="4" name="Picture 3" descr="slide_1_img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37160"/>
            <a:ext cx="2194560" cy="1036201"/>
          </a:xfrm>
          <a:prstGeom prst="rect">
            <a:avLst/>
          </a:prstGeom>
        </p:spPr>
      </p:pic>
      <p:pic>
        <p:nvPicPr>
          <p:cNvPr id="5" name="Picture 4" descr="slide2_proposed_solution_comple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32688"/>
            <a:ext cx="11548872" cy="57790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007E8A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64592"/>
            <a:ext cx="1188720" cy="65836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B365D"/>
                </a:solidFill>
                <a:latin typeface="Arial"/>
              </a:defRPr>
            </a:pPr>
            <a:r>
              <a:t>(DS)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91440"/>
            <a:ext cx="77724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 b="1">
                <a:solidFill>
                  <a:srgbClr val="1B365D"/>
                </a:solidFill>
                <a:latin typeface="Georgia"/>
              </a:defRPr>
            </a:pPr>
            <a:r>
              <a:t>Technical Approach</a:t>
            </a:r>
          </a:p>
        </p:txBody>
      </p:sp>
      <p:pic>
        <p:nvPicPr>
          <p:cNvPr id="4" name="Picture 3" descr="slide_1_img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37160"/>
            <a:ext cx="2194560" cy="10362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30936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007E8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27432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b="1" sz="1050">
                <a:solidFill>
                  <a:srgbClr val="10B981"/>
                </a:solidFill>
              </a:defRPr>
            </a:pPr>
            <a:r>
              <a:t>Edge AI &amp; Vision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BlazeFace 50 FPS De-ID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YOLOv8-Nano Head Count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COCO Spatial Asset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005840"/>
            <a:ext cx="27432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b="1" sz="1050">
                <a:solidFill>
                  <a:srgbClr val="0284C7"/>
                </a:solidFill>
              </a:defRPr>
            </a:pPr>
            <a:r>
              <a:t>Backend &amp; API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Node.js &amp; Express REST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FastAPI / Python Edge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MQTT Telemetry Broker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194560"/>
            <a:ext cx="27432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b="1" sz="1050">
                <a:solidFill>
                  <a:srgbClr val="D97706"/>
                </a:solidFill>
              </a:defRPr>
            </a:pPr>
            <a:r>
              <a:t>Frontend &amp; GIS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HTML5 &amp; TailwindCSS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Leaflet.js GIS Mapping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Chart.js Live Telemetry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194560"/>
            <a:ext cx="27432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b="1" sz="1050">
                <a:solidFill>
                  <a:srgbClr val="007E8A"/>
                </a:solidFill>
              </a:defRPr>
            </a:pPr>
            <a:r>
              <a:t>Security &amp; DB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DPDP Act 2023 RAM Shield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Scrypt Auth &amp; Signed JWT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SQLite &amp; PostgreSQL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383280"/>
            <a:ext cx="566928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b="1" sz="1300">
                <a:solidFill>
                  <a:srgbClr val="007E8A"/>
                </a:solidFill>
              </a:defRPr>
            </a:pPr>
            <a:r>
              <a:t>Methodology and process for implementation</a:t>
            </a:r>
          </a:p>
          <a:p>
            <a:pPr>
              <a:spcBef>
                <a:spcPts val="500"/>
              </a:spcBef>
              <a:defRPr b="1" sz="1000">
                <a:solidFill>
                  <a:srgbClr val="1B365D"/>
                </a:solidFill>
              </a:defRPr>
            </a:pPr>
            <a:r>
              <a:t>➔ Core Architecture: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  ● Edge Gateway: RTSP stream capture from existing classroom/lab CCTV.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  ● Volatile RAM De-ID: BlazeFace hardware downscaled inference (&lt;12ms) with zero raw face storage.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  ● YOLO Headcount &amp; Asset Check: Temporal 5-minute rolling average to suppress momentary false flags.</a:t>
            </a:r>
          </a:p>
          <a:p>
            <a:pPr>
              <a:spcBef>
                <a:spcPts val="500"/>
              </a:spcBef>
              <a:defRPr b="1" sz="1000">
                <a:solidFill>
                  <a:srgbClr val="1B365D"/>
                </a:solidFill>
              </a:defRPr>
            </a:pPr>
            <a:r>
              <a:t>➔ Integration &amp; Security: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  ● Encrypted Telemetry: Transmits 2-5 KB JSON packets to cloud via MQTT/HTTPS.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  ● Automated SIP Reconciliation: Live cross-check against Skill India Portal batch roster.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  ● Security &amp; Cryptography: Scrypt password hashing, JWT token authorization, and SHA-256 evidence signing.</a:t>
            </a:r>
          </a:p>
        </p:txBody>
      </p:sp>
      <p:pic>
        <p:nvPicPr>
          <p:cNvPr id="11" name="Picture 10" descr="slide3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5577840" cy="46660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64592"/>
            <a:ext cx="1188720" cy="65836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B365D"/>
                </a:solidFill>
                <a:latin typeface="Arial"/>
              </a:defRPr>
            </a:pPr>
            <a:r>
              <a:t>(DS)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91440"/>
            <a:ext cx="77724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 b="1">
                <a:solidFill>
                  <a:srgbClr val="1B365D"/>
                </a:solidFill>
                <a:latin typeface="Georgia"/>
              </a:defRPr>
            </a:pPr>
            <a:r>
              <a:t>Feasibility &amp; Viability</a:t>
            </a:r>
          </a:p>
        </p:txBody>
      </p:sp>
      <p:pic>
        <p:nvPicPr>
          <p:cNvPr id="4" name="Picture 3" descr="slide_1_img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37160"/>
            <a:ext cx="2194560" cy="10362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30936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007E8A"/>
                </a:solidFill>
                <a:latin typeface="Arial"/>
              </a:defRPr>
            </a:pPr>
            <a:r>
              <a:t>4</a:t>
            </a:r>
          </a:p>
        </p:txBody>
      </p:sp>
      <p:pic>
        <p:nvPicPr>
          <p:cNvPr id="6" name="Picture 5" descr="slide4_mind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60120"/>
            <a:ext cx="11247120" cy="299318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4160520"/>
            <a:ext cx="269748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>
              <a:defRPr b="1" sz="950">
                <a:solidFill>
                  <a:srgbClr val="0284C7"/>
                </a:solidFill>
              </a:defRPr>
            </a:pPr>
            <a:r>
              <a:t>TECHNICAL FEASIBILITY</a:t>
            </a:r>
          </a:p>
          <a:p>
            <a:pPr>
              <a:defRPr sz="819">
                <a:solidFill>
                  <a:srgbClr val="0F172A"/>
                </a:solidFill>
              </a:defRPr>
            </a:pPr>
            <a:r>
              <a:t>• Reuses standard RTSP CCTV / DVRs.</a:t>
            </a:r>
          </a:p>
          <a:p>
            <a:pPr>
              <a:defRPr sz="819">
                <a:solidFill>
                  <a:srgbClr val="0F172A"/>
                </a:solidFill>
              </a:defRPr>
            </a:pPr>
            <a:r>
              <a:t>• INT8 YOLOv8 runs 25+ FPS locally.</a:t>
            </a:r>
          </a:p>
          <a:p>
            <a:pPr>
              <a:defRPr sz="819">
                <a:solidFill>
                  <a:srgbClr val="0F172A"/>
                </a:solidFill>
              </a:defRPr>
            </a:pPr>
            <a:r>
              <a:t>• BlazeFace 50 FPS de-identification.</a:t>
            </a:r>
          </a:p>
          <a:p>
            <a:pPr>
              <a:defRPr sz="819">
                <a:solidFill>
                  <a:srgbClr val="0F172A"/>
                </a:solidFill>
              </a:defRPr>
            </a:pPr>
            <a:r>
              <a:t>• Working MVP deployed on Vercel.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4160520"/>
            <a:ext cx="269748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>
              <a:defRPr b="1" sz="950">
                <a:solidFill>
                  <a:srgbClr val="007E8A"/>
                </a:solidFill>
              </a:defRPr>
            </a:pPr>
            <a:r>
              <a:t>MARKET &amp; SCALE FEASIBILITY</a:t>
            </a:r>
          </a:p>
          <a:p>
            <a:pPr>
              <a:defRPr sz="819">
                <a:solidFill>
                  <a:srgbClr val="0F172A"/>
                </a:solidFill>
              </a:defRPr>
            </a:pPr>
            <a:r>
              <a:t>• Applies to 15,000+ national centres.</a:t>
            </a:r>
          </a:p>
          <a:p>
            <a:pPr>
              <a:defRPr sz="819">
                <a:solidFill>
                  <a:srgbClr val="0F172A"/>
                </a:solidFill>
              </a:defRPr>
            </a:pPr>
            <a:r>
              <a:t>• Extensible to ITIs, PMKVY, DGT, polytechnics.</a:t>
            </a:r>
          </a:p>
          <a:p>
            <a:pPr>
              <a:defRPr sz="819">
                <a:solidFill>
                  <a:srgbClr val="0F172A"/>
                </a:solidFill>
              </a:defRPr>
            </a:pPr>
            <a:r>
              <a:t>• Dockerized OTA automated deployment.</a:t>
            </a:r>
          </a:p>
          <a:p>
            <a:pPr>
              <a:defRPr sz="819">
                <a:solidFill>
                  <a:srgbClr val="0F172A"/>
                </a:solidFill>
              </a:defRPr>
            </a:pPr>
            <a:r>
              <a:t>• 10-minute web setup wizard.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160520"/>
            <a:ext cx="269748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>
              <a:defRPr b="1" sz="950">
                <a:solidFill>
                  <a:srgbClr val="D97706"/>
                </a:solidFill>
              </a:defRPr>
            </a:pPr>
            <a:r>
              <a:t>FINANCIAL FEASIBILITY</a:t>
            </a:r>
          </a:p>
          <a:p>
            <a:pPr>
              <a:defRPr sz="819">
                <a:solidFill>
                  <a:srgbClr val="0F172A"/>
                </a:solidFill>
              </a:defRPr>
            </a:pPr>
            <a:r>
              <a:t>• Low CapEx: ~₹6,500 edge unit per centre.</a:t>
            </a:r>
          </a:p>
          <a:p>
            <a:pPr>
              <a:defRPr sz="819">
                <a:solidFill>
                  <a:srgbClr val="0F172A"/>
                </a:solidFill>
              </a:defRPr>
            </a:pPr>
            <a:r>
              <a:t>• OpEx &lt;₹80/mo (replaces ₹1,800 streaming).</a:t>
            </a:r>
          </a:p>
          <a:p>
            <a:pPr>
              <a:defRPr sz="819">
                <a:solidFill>
                  <a:srgbClr val="0F172A"/>
                </a:solidFill>
              </a:defRPr>
            </a:pPr>
            <a:r>
              <a:t>• Saves ₹100+ Cr in ghost stipend fraud.</a:t>
            </a:r>
          </a:p>
          <a:p>
            <a:pPr>
              <a:defRPr sz="819">
                <a:solidFill>
                  <a:srgbClr val="0F172A"/>
                </a:solidFill>
              </a:defRPr>
            </a:pPr>
            <a:r>
              <a:t>• Cuts physical audit travel by 75%.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4160520"/>
            <a:ext cx="269748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>
              <a:defRPr b="1" sz="950">
                <a:solidFill>
                  <a:srgbClr val="10B981"/>
                </a:solidFill>
              </a:defRPr>
            </a:pPr>
            <a:r>
              <a:t>OPERATIONAL &amp; REGULATORY</a:t>
            </a:r>
          </a:p>
          <a:p>
            <a:pPr>
              <a:defRPr sz="819">
                <a:solidFill>
                  <a:srgbClr val="0F172A"/>
                </a:solidFill>
              </a:defRPr>
            </a:pPr>
            <a:r>
              <a:t>• 100% compliant with DPDP Act 2023.</a:t>
            </a:r>
          </a:p>
          <a:p>
            <a:pPr>
              <a:defRPr sz="819">
                <a:solidFill>
                  <a:srgbClr val="0F172A"/>
                </a:solidFill>
              </a:defRPr>
            </a:pPr>
            <a:r>
              <a:t>• Zero biometric or Aadhaar storage.</a:t>
            </a:r>
          </a:p>
          <a:p>
            <a:pPr>
              <a:defRPr sz="819">
                <a:solidFill>
                  <a:srgbClr val="0F172A"/>
                </a:solidFill>
              </a:defRPr>
            </a:pPr>
            <a:r>
              <a:t>• Ensures rural youth get real trade skills.</a:t>
            </a:r>
          </a:p>
          <a:p>
            <a:pPr>
              <a:defRPr sz="819">
                <a:solidFill>
                  <a:srgbClr val="0F172A"/>
                </a:solidFill>
              </a:defRPr>
            </a:pPr>
            <a:r>
              <a:t>• Accelerates payouts for ethical partners.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6172200"/>
            <a:ext cx="6675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950">
                <a:solidFill>
                  <a:srgbClr val="0284C7"/>
                </a:solidFill>
              </a:defRPr>
            </a:pPr>
            <a:r>
              <a:t>Interactive System Prototype: https://drishti-skilling.vercel.app/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64592"/>
            <a:ext cx="1188720" cy="65836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B365D"/>
                </a:solidFill>
                <a:latin typeface="Arial"/>
              </a:defRPr>
            </a:pPr>
            <a:r>
              <a:t>(DS)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91440"/>
            <a:ext cx="77724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 b="1">
                <a:solidFill>
                  <a:srgbClr val="1B365D"/>
                </a:solidFill>
                <a:latin typeface="Georgia"/>
              </a:defRPr>
            </a:pPr>
            <a:r>
              <a:t>Impact and Benefits</a:t>
            </a:r>
          </a:p>
        </p:txBody>
      </p:sp>
      <p:pic>
        <p:nvPicPr>
          <p:cNvPr id="4" name="Picture 3" descr="slide_1_img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37160"/>
            <a:ext cx="2194560" cy="10362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30936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007E8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07E8A"/>
                </a:solidFill>
              </a:defRPr>
            </a:pPr>
            <a:r>
              <a:t>🌍 Potential Impact &amp; Benefits of Solution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490472"/>
            <a:ext cx="502920" cy="50292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17320"/>
            <a:ext cx="457200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b="1" sz="1000">
                <a:solidFill>
                  <a:srgbClr val="1B365D"/>
                </a:solidFill>
              </a:defRPr>
            </a:pPr>
            <a:r>
              <a:t>Plugs Ghost Trainee Leakages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Stops ₹100+ Crores in fraudulent stipend claims; halts illegal payouts automatically.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267712"/>
            <a:ext cx="502920" cy="50292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194560"/>
            <a:ext cx="457200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b="1" sz="1000">
                <a:solidFill>
                  <a:srgbClr val="1B365D"/>
                </a:solidFill>
              </a:defRPr>
            </a:pPr>
            <a:r>
              <a:t>Guarantees Real Youth Skills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Enforces mandatory physical trainer presence &amp; hands-on equipment practice for trainees.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044952"/>
            <a:ext cx="502920" cy="50292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2971800"/>
            <a:ext cx="457200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b="1" sz="1000">
                <a:solidFill>
                  <a:srgbClr val="1B365D"/>
                </a:solidFill>
              </a:defRPr>
            </a:pPr>
            <a:r>
              <a:t>99.4% Rural Bandwidth Reduction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Operates smoothly on 2G/3G links with 2-5 KB JSON metrics; saves millions in streaming bills.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822191"/>
            <a:ext cx="502920" cy="50292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749039"/>
            <a:ext cx="457200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b="1" sz="1000">
                <a:solidFill>
                  <a:srgbClr val="1B365D"/>
                </a:solidFill>
              </a:defRPr>
            </a:pPr>
            <a:r>
              <a:t>100% DPDP Act 2023 Compliance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Volatile RAM face-blurring guarantees zero citizen facial biometrics stored or leaked.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599432"/>
            <a:ext cx="502920" cy="50292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526280"/>
            <a:ext cx="457200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b="1" sz="1000">
                <a:solidFill>
                  <a:srgbClr val="1B365D"/>
                </a:solidFill>
              </a:defRPr>
            </a:pPr>
            <a:r>
              <a:t>75% Audit Travel Cost Reduction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Objective risk triage directs flying squads only to red-flagged hotspot centres.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5376672"/>
            <a:ext cx="502920" cy="50292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5303520"/>
            <a:ext cx="457200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b="1" sz="1000">
                <a:solidFill>
                  <a:srgbClr val="1B365D"/>
                </a:solidFill>
              </a:defRPr>
            </a:pPr>
            <a:r>
              <a:t>Faster Payouts for Ethical Centres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Automated compliance index clears verified training centres for rapid subsidy disbursement.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960120"/>
            <a:ext cx="41148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b="1" sz="1350">
                <a:solidFill>
                  <a:srgbClr val="007E8A"/>
                </a:solidFill>
              </a:defRPr>
            </a:pPr>
            <a:r>
              <a:t>💡 Roadmap &amp; Future Goals (Deployment Sprints)</a:t>
            </a:r>
          </a:p>
        </p:txBody>
      </p:sp>
      <p:pic>
        <p:nvPicPr>
          <p:cNvPr id="20" name="Picture 19" descr="slide5_road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303520" cy="32678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64592"/>
            <a:ext cx="1188720" cy="65836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B365D"/>
                </a:solidFill>
                <a:latin typeface="Arial"/>
              </a:defRPr>
            </a:pPr>
            <a:r>
              <a:t>(DS)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91440"/>
            <a:ext cx="77724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 b="1">
                <a:solidFill>
                  <a:srgbClr val="1B365D"/>
                </a:solidFill>
                <a:latin typeface="Georgia"/>
              </a:defRPr>
            </a:pPr>
            <a:r>
              <a:t>Research and References</a:t>
            </a:r>
          </a:p>
        </p:txBody>
      </p:sp>
      <p:pic>
        <p:nvPicPr>
          <p:cNvPr id="4" name="Picture 3" descr="slide_1_img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37160"/>
            <a:ext cx="2194560" cy="10362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30936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007E8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11247120" cy="5303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28600"/>
          <a:lstStyle/>
          <a:p>
            <a:pPr algn="ctr">
              <a:defRPr b="1" sz="1500">
                <a:solidFill>
                  <a:srgbClr val="007E8A"/>
                </a:solidFill>
              </a:defRPr>
            </a:pPr>
            <a:r>
              <a:t>Details / Links of the reference and research work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1B365D"/>
                </a:solidFill>
                <a:latin typeface="Arial"/>
              </a:rPr>
              <a:t>1. Comptroller and Auditor General of India (CAG): </a:t>
            </a:r>
            <a:r>
              <a:rPr sz="1000">
                <a:solidFill>
                  <a:srgbClr val="0F172A"/>
                </a:solidFill>
                <a:latin typeface="Arial"/>
              </a:rPr>
              <a:t>Performance Audit on National Skill Development Mission (Report No. 10 of 2018), documenting 25-35% variance between reported trainee rosters and physical classroom occupancy in unmonitored centres.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1B365D"/>
                </a:solidFill>
                <a:latin typeface="Arial"/>
              </a:rPr>
              <a:t>2. Ministry of Skill Development and Entrepreneurship (MSDE): </a:t>
            </a:r>
            <a:r>
              <a:rPr sz="1000">
                <a:solidFill>
                  <a:srgbClr val="0F172A"/>
                </a:solidFill>
                <a:latin typeface="Arial"/>
              </a:rPr>
              <a:t>Guidelines for Empanelment &amp; Continuous Monitoring of Training Centres (PMKVY 4.0 / DGT Norms), specifying mandatory trainer-trainee ratios, equipment checklists, and biometric audit requirements.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1B365D"/>
                </a:solidFill>
                <a:latin typeface="Arial"/>
              </a:rPr>
              <a:t>3. Digital Personal Data Protection Act, 2023 (DPDP Act): </a:t>
            </a:r>
            <a:r>
              <a:rPr sz="1000">
                <a:solidFill>
                  <a:srgbClr val="0F172A"/>
                </a:solidFill>
                <a:latin typeface="Arial"/>
              </a:rPr>
              <a:t>Act No. 22 of 2023, Gazette of India, Section 6 &amp; 8 (Data Minimization &amp; Purpose Limitation Principles), mandating edge-level de-identification and prohibiting continuous storage of raw facial biometrics.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1B365D"/>
                </a:solidFill>
                <a:latin typeface="Arial"/>
              </a:rPr>
              <a:t>4. Ultralytics &amp; Google Research (Edge Vision Benchmarks): </a:t>
            </a:r>
            <a:r>
              <a:rPr sz="1000">
                <a:solidFill>
                  <a:srgbClr val="0F172A"/>
                </a:solidFill>
                <a:latin typeface="Arial"/>
              </a:rPr>
              <a:t>YOLOv8-Nano and BlazeFace Real-Time Performance on Resource-Constrained Embedded Devices (Edge TPUs and Intel N100 Mini-PCs), demonstrating 25-50 FPS throughput at sub-15W power envelope.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1B365D"/>
                </a:solidFill>
                <a:latin typeface="Arial"/>
              </a:rPr>
              <a:t>5. Ministry of Electronics and Information Technology (MeitY): </a:t>
            </a:r>
            <a:r>
              <a:rPr sz="1000">
                <a:solidFill>
                  <a:srgbClr val="0F172A"/>
                </a:solidFill>
                <a:latin typeface="Arial"/>
              </a:rPr>
              <a:t>IoT &amp; Edge AI Architectural Guidelines for Public Sector Service Delivery, emphasizing local compute, store-and-forward telemetry, and cryptographic verification of audit records.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1B365D"/>
                </a:solidFill>
                <a:latin typeface="Arial"/>
              </a:rPr>
              <a:t>6. National Skill Development Corporation (NSDC): </a:t>
            </a:r>
            <a:r>
              <a:rPr sz="1000">
                <a:solidFill>
                  <a:srgbClr val="0F172A"/>
                </a:solidFill>
                <a:latin typeface="Arial"/>
              </a:rPr>
              <a:t>Standard Operating Procedures for Skill India Digital Hub (SIDH) Batch Accreditation &amp; Verification, detailing API interfaces for third-party automated discrepancy reporting.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1B365D"/>
                </a:solidFill>
                <a:latin typeface="Arial"/>
              </a:rPr>
              <a:t>7. Drishti-Skilling Production Platform &amp; Verifiable Codebase: </a:t>
            </a:r>
            <a:r>
              <a:rPr sz="1000">
                <a:solidFill>
                  <a:srgbClr val="0F172A"/>
                </a:solidFill>
                <a:latin typeface="Arial"/>
              </a:rPr>
              <a:t>Live Web Platform: https://drishti-skilling.vercel.app/ | Architecture &amp; Audit Test Suite: https://github.com/aetherpixels/drishti-skilling (17/17 Security &amp; RBAC automated audit tests passing).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